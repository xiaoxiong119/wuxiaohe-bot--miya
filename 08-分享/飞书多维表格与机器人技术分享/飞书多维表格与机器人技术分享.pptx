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1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22" Type="http://schemas.openxmlformats.org/officeDocument/2006/relationships/viewProps" Target="viewProps.xml" /><Relationship Id="rId21" Type="http://schemas.openxmlformats.org/officeDocument/2006/relationships/tableStyles" Target="tableStyles.xml" /><Relationship Id="rId19" Type="http://schemas.openxmlformats.org/officeDocument/2006/relationships/notesMaster" Target="notesMasters/notesMaster1.xml" /><Relationship Id="rId17" Type="http://schemas.openxmlformats.org/officeDocument/2006/relationships/slide" Target="slides/slide17.xml" /><Relationship Id="rId20" Type="http://schemas.openxmlformats.org/officeDocument/2006/relationships/presProps" Target="presProps.xml" /><Relationship Id="rId2" Type="http://schemas.openxmlformats.org/officeDocument/2006/relationships/slide" Target="slides/slide2.xml" /><Relationship Id="rId12" Type="http://schemas.openxmlformats.org/officeDocument/2006/relationships/slide" Target="slides/slide12.xml" /><Relationship Id="rId16" Type="http://schemas.openxmlformats.org/officeDocument/2006/relationships/slide" Target="slides/slide16.xml" /><Relationship Id="rId9" Type="http://schemas.openxmlformats.org/officeDocument/2006/relationships/slide" Target="slides/slide9.xml" /><Relationship Id="rId15" Type="http://schemas.openxmlformats.org/officeDocument/2006/relationships/slide" Target="slides/slide15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1" Type="http://schemas.openxmlformats.org/officeDocument/2006/relationships/slide" Target="slides/slide1.xml" /><Relationship Id="rId13" Type="http://schemas.openxmlformats.org/officeDocument/2006/relationships/slide" Target="slides/slide13.xml" /><Relationship Id="rId18" Type="http://schemas.openxmlformats.org/officeDocument/2006/relationships/slide" Target="slides/slide18.xml" /><Relationship Id="rId8" Type="http://schemas.openxmlformats.org/officeDocument/2006/relationships/slide" Target="slides/slide8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80">
                <a:solidFill>
                  <a:srgbClr val="94A3B8"/>
                </a:solidFill>
                <a:latin typeface="Microsoft YaHei"/>
                <a:ea typeface="Microsoft YaHei"/>
              </a:rPr>
              <a:t>乌小河</a:t>
            </a:r>
            <a:r>
              <a:rPr lang="en-US" sz="1050" spc="18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spc="180">
                <a:solidFill>
                  <a:srgbClr val="94A3B8"/>
                </a:solidFill>
                <a:latin typeface="Microsoft YaHei"/>
                <a:ea typeface="Microsoft YaHei"/>
              </a:rPr>
              <a:t>内部技术分享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571500" y="1266825"/>
            <a:ext cx="11049000" cy="8858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>
                <a:solidFill>
                  <a:srgbClr val="0B1F3A"/>
                </a:solidFill>
                <a:latin typeface="Microsoft YaHei"/>
                <a:ea typeface="Microsoft YaHei"/>
              </a:rPr>
              <a:t>多维表格</a:t>
            </a:r>
            <a:r>
              <a:rPr lang="en-US" sz="4800" b="1">
                <a:solidFill>
                  <a:srgbClr val="0B1F3A"/>
                </a:solidFill>
                <a:latin typeface="Microsoft YaHei"/>
                <a:ea typeface="Microsoft YaHei"/>
              </a:rPr>
              <a:t xml:space="preserve"> </a:t>
            </a:r>
            <a:r>
              <a:rPr sz="4800" b="1">
                <a:solidFill>
                  <a:srgbClr val="F97316"/>
                </a:solidFill>
                <a:latin typeface="Microsoft YaHei"/>
                <a:ea typeface="Microsoft YaHei"/>
              </a:rPr>
              <a:t>×</a:t>
            </a:r>
            <a:r>
              <a:rPr lang="en-US" sz="4800" b="1">
                <a:solidFill>
                  <a:srgbClr val="0B1F3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4800" b="1">
                <a:solidFill>
                  <a:srgbClr val="0B1F3A"/>
                </a:solidFill>
                <a:latin typeface="Microsoft YaHei"/>
                <a:ea typeface="Microsoft YaHei"/>
              </a:rPr>
              <a:t>机器人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571500" y="2152650"/>
            <a:ext cx="11049000" cy="8858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>
                <a:solidFill>
                  <a:srgbClr val="1D4ED8"/>
                </a:solidFill>
                <a:latin typeface="Microsoft YaHei"/>
                <a:ea typeface="Microsoft YaHei"/>
              </a:rPr>
              <a:t>把重复动作变成流程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571500" y="3343275"/>
            <a:ext cx="8572500" cy="838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650">
                <a:solidFill>
                  <a:srgbClr val="475569"/>
                </a:solidFill>
                <a:latin typeface="Microsoft YaHei"/>
                <a:ea typeface="Microsoft YaHei"/>
              </a:rPr>
              <a:t>一条素材从飞书群到分秒帧，再回到多维表格</a:t>
            </a:r>
            <a:r>
              <a:rPr lang="en-US" sz="16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650">
                <a:solidFill>
                  <a:srgbClr val="475569"/>
                </a:solidFill>
                <a:latin typeface="Microsoft YaHei"/>
                <a:ea typeface="Microsoft YaHei"/>
              </a:rPr>
              <a:t>这段路上谁在干活、怎么搭起来、哪些坑绕不过去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8877300" y="1257300"/>
            <a:ext cx="2743200" cy="361950"/>
          </a:xfrm>
          <a:prstGeom prst="roundRect">
            <a:avLst>
              <a:gd name="adj" fmla="val 21053"/>
            </a:avLst>
          </a:prstGeom>
          <a:solidFill>
            <a:srgbClr val="EFF6FF"/>
          </a:solidFill>
          <a:ln/>
        </p:spPr>
        <p:txBody>
          <a:bodyPr/>
          <a:p>
            <a:pPr/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8420100" y="1752600"/>
            <a:ext cx="3200400" cy="361950"/>
          </a:xfrm>
          <a:prstGeom prst="roundRect">
            <a:avLst>
              <a:gd name="adj" fmla="val 21053"/>
            </a:avLst>
          </a:prstGeom>
          <a:solidFill>
            <a:srgbClr val="BFDBFE"/>
          </a:solidFill>
          <a:ln/>
        </p:spPr>
        <p:txBody>
          <a:bodyPr/>
          <a:p>
            <a:pPr/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7962900" y="2247900"/>
            <a:ext cx="3657600" cy="361950"/>
          </a:xfrm>
          <a:prstGeom prst="roundRect">
            <a:avLst>
              <a:gd name="adj" fmla="val 21053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571500" y="5334000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571500" y="5543550"/>
            <a:ext cx="83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分享人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小熊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5543550" y="5543550"/>
            <a:ext cx="1266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年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月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27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0944225" y="5543550"/>
            <a:ext cx="67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约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57" name="" descr="&lt;Slide style={{ width: 1280, height: 720, background: '#FFFFFF', padding: 60, position: 'relative' }}&gt;&#10;    {/* 左栏：目录标识 */}&#10;    &lt;Box style={{ flexDirection: 'column', width: 300 }}&gt;&#10;        &lt;Text style={{ fontSize: 14, color: '#94A3B8', letterSpacing: 3, fontFamily: 'Microsoft YaHei' }}&gt;&#10;            CONTENT&#10;        &lt;/Text&gt;&#10;        &lt;Text style={{ fontSize: 56, fontWeight: 'bold', color: '#0B1F3A', lineHeight: 1.15, marginTop: 12, fontFamily: 'Microsoft YaHei' }}&gt;&#10;            目录&#10;        &lt;/Text&gt;&#10;        &lt;Box style={{ width: 56, height: 4, background: '#F97316', borderRadius: 2, marginTop: 24 }} /&gt;&#10;        &lt;Text style={{ fontSize: 14, color: '#94A3B8', lineHeight: 1.8, marginTop: 340, width: 240, fontFamily: 'Microsoft YaHei' }}&gt;&#10;            飞书多维表格与机器人&#10;        &lt;/Text&gt;&#10;        &lt;Text style={{ fontSize: 14, color: '#94A3B8', lineHeight: 1.8, marginTop: 4, width: 240, fontFamily: 'Microsoft YaHei' }}&gt;&#10;            内部技术分享 · 2026.10&#10;        &lt;/Text&gt;&#10;    &lt;/Box&gt;&#10;&#10;    {/* 右栏：章节清单 */}&#10;    &lt;Box style={{ position: 'absolute', top: 96, left: 420, width: 800, flexDirection: 'column' }}&gt;&#10;        {[&#10;            { no: '01', name: '一件事，要过三道手', page: '03 – 05' },&#10;            { no: '02', name: '机器人到底是什么', page: '06 – 08' },&#10;            { no: '03', name: '多维表格 × 机器人', page: '09 – 13' },&#10;            { no: '04', name: '坑，与上手', page: '14 – 17' },&#10;        ].map((item, idx) =&gt; (&#10;            &lt;Box key={idx} style={{ flexDirection: 'row', alignItems: 'center', height: 116, borderBottom: '1px solid #E2E8F0' }}&gt;&#10;                &lt;Text style={{ fontSize: 34, fontWeight: 'bold', color: '#CBD5E1', width: 96, fontFamily: 'Microsoft YaHei' }}&gt;&#10;                    {item.no}&#10;                &lt;/Text&gt;&#10;                &lt;Text style={{ fontSize: 30, fontWeight: 'bold', color: '#0B1F3A', flex: 1, fontFamily: 'Microsoft YaHei' }}&gt;&#10;                    {item.name}&#10;                &lt;/Text&gt;&#10;                &lt;Text style={{ fontSize: 15, color: '#94A3B8', fontFamily: 'Microsoft YaHei' }}&gt;&#10;                    {item.page}&#10;                &lt;/Text&gt;&#10;            &lt;/Box&gt;&#10;        ))}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94A3B8"/>
                </a:solidFill>
                <a:latin typeface="Microsoft YaHei"/>
                <a:ea typeface="Microsoft YaHei"/>
              </a:rPr>
              <a:t>CONTENT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28575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0B1F3A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571500" y="1819275"/>
            <a:ext cx="533400" cy="38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571500" y="5095875"/>
            <a:ext cx="2286000" cy="2952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飞书多维表格与机器人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571500" y="5429250"/>
            <a:ext cx="2286000" cy="2952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内部技术分享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2026.10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4000500" y="914400"/>
            <a:ext cx="7620000" cy="1104900"/>
          </a:xfrm>
          <a:custGeom>
            <a:pathLst>
              <a:path w="800" h="116">
                <a:moveTo>
                  <a:pt x="0" y="115"/>
                </a:moveTo>
                <a:lnTo>
                  <a:pt x="800" y="115"/>
                </a:lnTo>
                <a:lnTo>
                  <a:pt x="800" y="116"/>
                </a:lnTo>
                <a:lnTo>
                  <a:pt x="0" y="116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4000500" y="1266825"/>
            <a:ext cx="914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CBD5E1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4914900" y="1295400"/>
            <a:ext cx="62198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B1F3A"/>
                </a:solidFill>
                <a:latin typeface="Microsoft YaHei"/>
                <a:ea typeface="Microsoft YaHei"/>
              </a:rPr>
              <a:t>一件事，要过三道手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1134725" y="13811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03 – 05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4000500" y="2019300"/>
            <a:ext cx="7620000" cy="1104900"/>
          </a:xfrm>
          <a:custGeom>
            <a:pathLst>
              <a:path w="800" h="116">
                <a:moveTo>
                  <a:pt x="0" y="115"/>
                </a:moveTo>
                <a:lnTo>
                  <a:pt x="800" y="115"/>
                </a:lnTo>
                <a:lnTo>
                  <a:pt x="800" y="116"/>
                </a:lnTo>
                <a:lnTo>
                  <a:pt x="0" y="116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000500" y="2371725"/>
            <a:ext cx="914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CBD5E1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914900" y="2400300"/>
            <a:ext cx="62198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B1F3A"/>
                </a:solidFill>
                <a:latin typeface="Microsoft YaHei"/>
                <a:ea typeface="Microsoft YaHei"/>
              </a:rPr>
              <a:t>机器人到底是什么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1134725" y="24860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06 – 08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4000500" y="3124200"/>
            <a:ext cx="7620000" cy="1104900"/>
          </a:xfrm>
          <a:custGeom>
            <a:pathLst>
              <a:path w="800" h="116">
                <a:moveTo>
                  <a:pt x="0" y="115"/>
                </a:moveTo>
                <a:lnTo>
                  <a:pt x="800" y="115"/>
                </a:lnTo>
                <a:lnTo>
                  <a:pt x="800" y="116"/>
                </a:lnTo>
                <a:lnTo>
                  <a:pt x="0" y="116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4000500" y="3476625"/>
            <a:ext cx="914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CBD5E1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4914900" y="3505200"/>
            <a:ext cx="62198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B1F3A"/>
                </a:solidFill>
                <a:latin typeface="Microsoft YaHei"/>
                <a:ea typeface="Microsoft YaHei"/>
              </a:rPr>
              <a:t>多维表格</a:t>
            </a:r>
            <a:r>
              <a:rPr lang="en-US" sz="2250" b="1">
                <a:solidFill>
                  <a:srgbClr val="0B1F3A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2250" b="1">
                <a:solidFill>
                  <a:srgbClr val="0B1F3A"/>
                </a:solidFill>
                <a:latin typeface="Microsoft YaHei"/>
                <a:ea typeface="Microsoft YaHei"/>
              </a:rPr>
              <a:t>机器人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1134725" y="35909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09 – 13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4000500" y="4229100"/>
            <a:ext cx="7620000" cy="1104900"/>
          </a:xfrm>
          <a:custGeom>
            <a:pathLst>
              <a:path w="800" h="116">
                <a:moveTo>
                  <a:pt x="0" y="115"/>
                </a:moveTo>
                <a:lnTo>
                  <a:pt x="800" y="115"/>
                </a:lnTo>
                <a:lnTo>
                  <a:pt x="800" y="116"/>
                </a:lnTo>
                <a:lnTo>
                  <a:pt x="0" y="116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4000500" y="4581525"/>
            <a:ext cx="914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CBD5E1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4914900" y="4610100"/>
            <a:ext cx="62198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B1F3A"/>
                </a:solidFill>
                <a:latin typeface="Microsoft YaHei"/>
                <a:ea typeface="Microsoft YaHei"/>
              </a:rPr>
              <a:t>坑，与上手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1134725" y="46958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14 – 17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80" name="" descr="&lt;Slide style={{ width: 1280, height: 720, background: '#FFFFFF', padding: 60, position: 'relative' }}&gt;&#10;    &lt;Box style={{ position: 'absolute', left: 0, top: 0, width: 6, height: 720, background: '#1D4ED8' }} /&gt;&#10;    &lt;Box style={{ position: 'absolute', left: 96, top: 150, width: 1120, flexDirection: 'row', alignItems: 'flex-end', gap: 48 }}&gt;&#10;        &lt;Text style={{ fontSize: 180, fontWeight: 'bold', color: '#BFDBFE', lineHeight: 1, fontFamily: 'Microsoft YaHei' }}&gt;&#10;            01&#10;        &lt;/Text&gt;&#10;        &lt;Box style={{ flexDirection: 'column', width: 620, paddingBottom: 26 }}&gt;&#10;            &lt;Text style={{ fontSize: 56, fontWeight: 'bold', color: '#0B1F3A', lineHeight: 1.2, fontFamily: 'Microsoft YaHei' }}&gt;&#10;                一件事，要过三道手&#10;            &lt;/Text&gt;&#10;            &lt;Box style={{ width: 440, height: 3, background: '#F97316', borderRadius: 2, marginTop: 26 }} /&gt;&#10;            &lt;Text style={{ fontSize: 20, color: '#475569', lineHeight: 1.7, marginTop: 22, fontFamily: 'Microsoft YaHei' }}&gt;&#10;                每天在群里、分秒帧、多维表格之间搬同一份信息。谁都没做错，但谁都在重复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2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914400" y="1657350"/>
            <a:ext cx="1914525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>
                <a:solidFill>
                  <a:srgbClr val="BFDBFE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3286125" y="1428750"/>
            <a:ext cx="5905500" cy="7715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200" b="1">
                <a:solidFill>
                  <a:srgbClr val="0B1F3A"/>
                </a:solidFill>
                <a:latin typeface="Microsoft YaHei"/>
                <a:ea typeface="Microsoft YaHei"/>
              </a:rPr>
              <a:t>一件事，要过三道手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3286125" y="2447925"/>
            <a:ext cx="4191000" cy="28575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3286125" y="2686050"/>
            <a:ext cx="590550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475569"/>
                </a:solidFill>
                <a:latin typeface="Microsoft YaHei"/>
                <a:ea typeface="Microsoft YaHei"/>
              </a:rPr>
              <a:t>每天在群里、分秒帧、多维表格之间搬同一份信息。谁都没做错，但谁都在重复。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2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20">
                <a:solidFill>
                  <a:srgbClr val="94A3B8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1050" spc="120">
                <a:solidFill>
                  <a:srgbClr val="94A3B8"/>
                </a:solidFill>
                <a:latin typeface="Microsoft YaHei"/>
                <a:ea typeface="Microsoft YaHei"/>
              </a:rPr>
              <a:t>一件事，要过三道手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571500" y="828675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0B1F3A"/>
                </a:solidFill>
                <a:latin typeface="Microsoft YaHei"/>
                <a:ea typeface="Microsoft YaHei"/>
              </a:rPr>
              <a:t>一条素材，要在三个地方各登记一次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571500" y="1466850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571500" y="16002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704850" y="1724025"/>
            <a:ext cx="180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D4ED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181100" y="1600200"/>
            <a:ext cx="60579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0B1F3A"/>
                </a:solidFill>
                <a:latin typeface="Microsoft YaHei"/>
                <a:ea typeface="Microsoft YaHei"/>
              </a:rPr>
              <a:t>群里发片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181100" y="2009775"/>
            <a:ext cx="60579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粗剪「第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67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集」发进飞书群，顺手说一句「这版可以传了」——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这句话就是全部的交接记录。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571500" y="27432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704850" y="2867025"/>
            <a:ext cx="180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D4ED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1181100" y="2743200"/>
            <a:ext cx="60579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0B1F3A"/>
                </a:solidFill>
                <a:latin typeface="Microsoft YaHei"/>
                <a:ea typeface="Microsoft YaHei"/>
              </a:rPr>
              <a:t>手动传分秒帧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1181100" y="3152775"/>
            <a:ext cx="60579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打开浏览器、拖进项目文件夹，再把文件名改成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67.mp4 ——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平台按文件名显示，改错就找不到。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571500" y="387667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704850" y="4000500"/>
            <a:ext cx="180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D4ED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1181100" y="3876675"/>
            <a:ext cx="60579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0B1F3A"/>
                </a:solidFill>
                <a:latin typeface="Microsoft YaHei"/>
                <a:ea typeface="Microsoft YaHei"/>
              </a:rPr>
              <a:t>回表里登记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1181100" y="4286250"/>
            <a:ext cx="60579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在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70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行记录里翻到第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67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集，点开「素材生成进展」改成已上传，别忘了改更新时间。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571500" y="501967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704850" y="5143500"/>
            <a:ext cx="180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D4ED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1181100" y="5019675"/>
            <a:ext cx="60579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0B1F3A"/>
                </a:solidFill>
                <a:latin typeface="Microsoft YaHei"/>
                <a:ea typeface="Microsoft YaHei"/>
              </a:rPr>
              <a:t>意见再抄一遍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1181100" y="5429250"/>
            <a:ext cx="60579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审片人在时间轴上留的批注，人工一条条搬进表格备注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搬漏了也没人发现。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7620000" y="1600200"/>
            <a:ext cx="4000500" cy="4495800"/>
          </a:xfrm>
          <a:prstGeom prst="roundRect">
            <a:avLst>
              <a:gd name="adj" fmla="val 2857"/>
            </a:avLst>
          </a:prstGeom>
          <a:solidFill>
            <a:srgbClr val="0B1F3A"/>
          </a:solidFill>
          <a:ln/>
        </p:spPr>
        <p:txBody>
          <a:bodyPr/>
          <a:p>
            <a:pPr/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7924800" y="1905000"/>
            <a:ext cx="3390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05">
                <a:solidFill>
                  <a:srgbClr val="8FA3BD"/>
                </a:solidFill>
                <a:latin typeface="Microsoft YaHei"/>
                <a:ea typeface="Microsoft YaHei"/>
              </a:rPr>
              <a:t>同一份信息</a:t>
            </a:r>
            <a:r>
              <a:rPr lang="en-US" sz="1050" spc="105">
                <a:solidFill>
                  <a:srgbClr val="8FA3B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spc="105">
                <a:solidFill>
                  <a:srgbClr val="8FA3BD"/>
                </a:solidFill>
                <a:latin typeface="Microsoft YaHei"/>
                <a:ea typeface="Microsoft YaHei"/>
              </a:rPr>
              <a:t>登记次数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7924800" y="2162175"/>
            <a:ext cx="552450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8553450" y="2933700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>
                <a:solidFill>
                  <a:srgbClr val="FFFFFF"/>
                </a:solidFill>
                <a:latin typeface="Microsoft YaHei"/>
                <a:ea typeface="Microsoft YaHei"/>
              </a:rPr>
              <a:t>处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7924800" y="3543300"/>
            <a:ext cx="33909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7924800" y="38481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8096250" y="3743325"/>
            <a:ext cx="3048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名字对不上</a:t>
            </a: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随手叫「</a:t>
            </a: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>67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最终版」，搜不到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7924800" y="4667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096250" y="4562475"/>
            <a:ext cx="3048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表格滞后</a:t>
            </a: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传完了没登记，表里还写待上传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7924800" y="54864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8096250" y="5381625"/>
            <a:ext cx="3048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意见散落</a:t>
            </a: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批注留在分秒帧，表里看不到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7924800" y="6048375"/>
            <a:ext cx="457200" cy="38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乌小河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技术分享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11210925" y="63817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04 / 18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3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20">
                <a:solidFill>
                  <a:srgbClr val="94A3B8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1050" spc="120">
                <a:solidFill>
                  <a:srgbClr val="94A3B8"/>
                </a:solidFill>
                <a:latin typeface="Microsoft YaHei"/>
                <a:ea typeface="Microsoft YaHei"/>
              </a:rPr>
              <a:t>一件事，要过三道手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71500" y="828675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0B1F3A"/>
                </a:solidFill>
                <a:latin typeface="Microsoft YaHei"/>
                <a:ea typeface="Microsoft YaHei"/>
              </a:rPr>
              <a:t>能被接走的活，长着同一副样子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571500" y="1466850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571500" y="1600200"/>
            <a:ext cx="4762500" cy="3943350"/>
          </a:xfrm>
          <a:prstGeom prst="roundRect">
            <a:avLst>
              <a:gd name="adj" fmla="val 2899"/>
            </a:avLst>
          </a:prstGeom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857250" y="1885950"/>
            <a:ext cx="4191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05">
                <a:solidFill>
                  <a:srgbClr val="1D4ED8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1050" b="1" spc="105">
                <a:solidFill>
                  <a:srgbClr val="1D4ED8"/>
                </a:solidFill>
                <a:latin typeface="Microsoft YaHei"/>
                <a:ea typeface="Microsoft YaHei"/>
              </a:rPr>
              <a:t>搬运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857250" y="2181225"/>
            <a:ext cx="419100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0B1F3A"/>
                </a:solidFill>
                <a:latin typeface="Microsoft YaHei"/>
                <a:ea typeface="Microsoft YaHei"/>
              </a:rPr>
              <a:t>文件从</a:t>
            </a:r>
            <a:r>
              <a:rPr lang="en-US" sz="1950" b="1">
                <a:solidFill>
                  <a:srgbClr val="0B1F3A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950" b="1">
                <a:solidFill>
                  <a:srgbClr val="0B1F3A"/>
                </a:solidFill>
                <a:latin typeface="Microsoft YaHei"/>
                <a:ea typeface="Microsoft YaHei"/>
              </a:rPr>
              <a:t>挪到</a:t>
            </a:r>
            <a:r>
              <a:rPr lang="en-US" sz="1950" b="1">
                <a:solidFill>
                  <a:srgbClr val="0B1F3A"/>
                </a:solidFill>
                <a:latin typeface="Microsoft YaHei"/>
                <a:ea typeface="Microsoft YaHei"/>
              </a:rPr>
              <a:t xml:space="preserve"> B</a:t>
            </a:r>
            <a:r>
              <a:rPr lang="zh-CN" sz="1950" b="1">
                <a:solidFill>
                  <a:srgbClr val="0B1F3A"/>
                </a:solidFill>
                <a:latin typeface="Microsoft YaHei"/>
                <a:ea typeface="Microsoft YaHei"/>
              </a:rPr>
              <a:t>，名字顺手改对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857250" y="2819400"/>
            <a:ext cx="28575" cy="609600"/>
          </a:xfrm>
          <a:prstGeom prst="roundRect">
            <a:avLst>
              <a:gd name="adj" fmla="val 66667"/>
            </a:avLst>
          </a:prstGeom>
          <a:solidFill>
            <a:srgbClr val="DBEAFE"/>
          </a:solidFill>
          <a:ln/>
        </p:spPr>
        <p:txBody>
          <a:bodyPr/>
          <a:p>
            <a:pPr/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000125" y="2819400"/>
            <a:ext cx="40005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聊天里的粗剪视频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分秒帧「粗剪」文件夹，落盘就叫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67.mp4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857250" y="3676650"/>
            <a:ext cx="28575" cy="609600"/>
          </a:xfrm>
          <a:prstGeom prst="roundRect">
            <a:avLst>
              <a:gd name="adj" fmla="val 66667"/>
            </a:avLst>
          </a:prstGeom>
          <a:solidFill>
            <a:srgbClr val="DBEAFE"/>
          </a:solidFill>
          <a:ln/>
        </p:spPr>
        <p:txBody>
          <a:bodyPr/>
          <a:p>
            <a:pPr/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1000125" y="3676650"/>
            <a:ext cx="40005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云盘收件夹整批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一个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/drive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扫一遍，传完接着传下一个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857250" y="4819650"/>
            <a:ext cx="4191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57250" y="4962525"/>
            <a:ext cx="4191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前提：来源位置固定、目标位置固定、命名规则固定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5715000" y="1600200"/>
            <a:ext cx="5905500" cy="1857375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5962650" y="1847850"/>
            <a:ext cx="541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05">
                <a:solidFill>
                  <a:srgbClr val="3B82F6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b="1" spc="105">
                <a:solidFill>
                  <a:srgbClr val="3B82F6"/>
                </a:solidFill>
                <a:latin typeface="Microsoft YaHei"/>
                <a:ea typeface="Microsoft YaHei"/>
              </a:rPr>
              <a:t>回写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5962650" y="2105025"/>
            <a:ext cx="54102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0B1F3A"/>
                </a:solidFill>
                <a:latin typeface="Microsoft YaHei"/>
                <a:ea typeface="Microsoft YaHei"/>
              </a:rPr>
              <a:t>把结论写进字段，人不用再抄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5962650" y="2514600"/>
            <a:ext cx="54102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/base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把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70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集的「素材生成进展」改成已上传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· /tbpz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把批注落到记录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5715000" y="3686175"/>
            <a:ext cx="5905500" cy="1857375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5962650" y="3933825"/>
            <a:ext cx="541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05">
                <a:solidFill>
                  <a:srgbClr val="3B82F6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1050" b="1" spc="105">
                <a:solidFill>
                  <a:srgbClr val="3B82F6"/>
                </a:solidFill>
                <a:latin typeface="Microsoft YaHei"/>
                <a:ea typeface="Microsoft YaHei"/>
              </a:rPr>
              <a:t>通知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5962650" y="4191000"/>
            <a:ext cx="54102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0B1F3A"/>
                </a:solidFill>
                <a:latin typeface="Microsoft YaHei"/>
                <a:ea typeface="Microsoft YaHei"/>
              </a:rPr>
              <a:t>表里一变，人就收到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5962650" y="4600575"/>
            <a:ext cx="54102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进度进入「待一审」→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卡片进项目群，按钮点一下改状态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571500" y="5781675"/>
            <a:ext cx="38100" cy="2095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742950" y="5715000"/>
            <a:ext cx="57150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0B1F3A"/>
                </a:solidFill>
                <a:latin typeface="Microsoft YaHei"/>
                <a:ea typeface="Microsoft YaHei"/>
              </a:rPr>
              <a:t>反过来，要审美判断的、要找人商量的、只做一次的活，</a:t>
            </a:r>
            <a:r>
              <a:rPr lang="zh-CN" sz="1500" b="1">
                <a:solidFill>
                  <a:srgbClr val="F97316"/>
                </a:solidFill>
                <a:latin typeface="Microsoft YaHei"/>
                <a:ea typeface="Microsoft YaHei"/>
              </a:rPr>
              <a:t>先别交出去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乌小河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技术分享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11210925" y="63817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05 / 18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348" name="" descr="&lt;Slide style={{ width: 1280, height: 720, background: '#FFFFFF', padding: 60, position: 'relative' }}&gt;&#10;    &lt;Box style={{ position: 'absolute', left: 0, top: 0, width: 6, height: 720, background: '#1D4ED8' }} /&gt;&#10;    &lt;Box style={{ position: 'absolute', left: 96, top: 150, width: 1120, flexDirection: 'row', alignItems: 'flex-end', gap: 48 }}&gt;&#10;        &lt;Text style={{ fontSize: 180, fontWeight: 'bold', color: '#BFDBFE', lineHeight: 1, fontFamily: 'Microsoft YaHei' }}&gt;&#10;            02&#10;        &lt;/Text&gt;&#10;        &lt;Box style={{ flexDirection: 'column', width: 620, paddingBottom: 26 }}&gt;&#10;            &lt;Text style={{ fontSize: 56, fontWeight: 'bold', color: '#0B1F3A', lineHeight: 1.2, fontFamily: 'Microsoft YaHei' }}&gt;&#10;                机器人到底是什么&#10;            &lt;/Text&gt;&#10;            &lt;Box style={{ width: 440, height: 3, background: '#F97316', borderRadius: 2, marginTop: 26 }} /&gt;&#10;            &lt;Text style={{ fontSize: 20, color: '#475569', lineHeight: 1.7, marginTop: 22, fontFamily: 'Microsoft YaHei' }}&gt;&#10;                它不是 SaaS，是飞书应用 + 这台 Mac 上一个常驻进程。能力边界由机器决定，不由它决定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0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914400" y="1657350"/>
            <a:ext cx="1914525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>
                <a:solidFill>
                  <a:srgbClr val="BFDBFE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3286125" y="1428750"/>
            <a:ext cx="5905500" cy="7715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200" b="1">
                <a:solidFill>
                  <a:srgbClr val="0B1F3A"/>
                </a:solidFill>
                <a:latin typeface="Microsoft YaHei"/>
                <a:ea typeface="Microsoft YaHei"/>
              </a:rPr>
              <a:t>机器人到底是什么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3286125" y="2447925"/>
            <a:ext cx="4191000" cy="28575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3286125" y="2686050"/>
            <a:ext cx="590550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475569"/>
                </a:solidFill>
                <a:latin typeface="Microsoft YaHei"/>
                <a:ea typeface="Microsoft YaHei"/>
              </a:rPr>
              <a:t>它不是</a:t>
            </a:r>
            <a:r>
              <a:rPr lang="en-US" sz="1500">
                <a:solidFill>
                  <a:srgbClr val="475569"/>
                </a:solidFill>
                <a:latin typeface="Microsoft YaHei"/>
                <a:ea typeface="Microsoft YaHei"/>
              </a:rPr>
              <a:t xml:space="preserve"> SaaS</a:t>
            </a:r>
            <a:r>
              <a:rPr lang="zh-CN" sz="1500">
                <a:solidFill>
                  <a:srgbClr val="475569"/>
                </a:solidFill>
                <a:latin typeface="Microsoft YaHei"/>
                <a:ea typeface="Microsoft YaHei"/>
              </a:rPr>
              <a:t>，是飞书应用</a:t>
            </a:r>
            <a:r>
              <a:rPr lang="en-US" sz="1500">
                <a:solidFill>
                  <a:srgbClr val="47556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500">
                <a:solidFill>
                  <a:srgbClr val="475569"/>
                </a:solidFill>
                <a:latin typeface="Microsoft YaHei"/>
                <a:ea typeface="Microsoft YaHei"/>
              </a:rPr>
              <a:t>这台</a:t>
            </a:r>
            <a:r>
              <a:rPr lang="en-US" sz="1500">
                <a:solidFill>
                  <a:srgbClr val="475569"/>
                </a:solidFill>
                <a:latin typeface="Microsoft YaHei"/>
                <a:ea typeface="Microsoft YaHei"/>
              </a:rPr>
              <a:t xml:space="preserve"> Mac </a:t>
            </a:r>
            <a:r>
              <a:rPr lang="zh-CN" sz="1500">
                <a:solidFill>
                  <a:srgbClr val="475569"/>
                </a:solidFill>
                <a:latin typeface="Microsoft YaHei"/>
                <a:ea typeface="Microsoft YaHei"/>
              </a:rPr>
              <a:t>上一个常驻进程。能力边界由机器决定，不由它决定。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2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20">
                <a:solidFill>
                  <a:srgbClr val="94A3B8"/>
                </a:solidFill>
                <a:latin typeface="Microsoft YaHei"/>
                <a:ea typeface="Microsoft YaHei"/>
              </a:rPr>
              <a:t>机器人到底是什么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571500" y="828675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0B1F3A"/>
                </a:solidFill>
                <a:latin typeface="Microsoft YaHei"/>
                <a:ea typeface="Microsoft YaHei"/>
              </a:rPr>
              <a:t>一条长连接，加这台</a:t>
            </a:r>
            <a:r>
              <a:rPr lang="en-US" sz="2550" b="1">
                <a:solidFill>
                  <a:srgbClr val="0B1F3A"/>
                </a:solidFill>
                <a:latin typeface="Microsoft YaHei"/>
                <a:ea typeface="Microsoft YaHei"/>
              </a:rPr>
              <a:t xml:space="preserve"> Mac </a:t>
            </a:r>
            <a:r>
              <a:rPr lang="zh-CN" sz="2550" b="1">
                <a:solidFill>
                  <a:srgbClr val="0B1F3A"/>
                </a:solidFill>
                <a:latin typeface="Microsoft YaHei"/>
                <a:ea typeface="Microsoft YaHei"/>
              </a:rPr>
              <a:t>上的一个进程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571500" y="1466850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571500" y="1638300"/>
            <a:ext cx="20955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0B1F3A"/>
                </a:solidFill>
                <a:latin typeface="Microsoft YaHei"/>
                <a:ea typeface="Microsoft YaHei"/>
              </a:rPr>
              <a:t>飞书云端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571500" y="200025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60">
                <a:solidFill>
                  <a:srgbClr val="1D4ED8"/>
                </a:solidFill>
                <a:latin typeface="Consolas"/>
                <a:ea typeface="Consolas"/>
              </a:rPr>
              <a:t>EVENT PUSH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3238500" y="1638300"/>
            <a:ext cx="8382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im.message.receive_v1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通过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WebSocket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长连接推过来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不需要公网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IP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、域名，也不需要内网穿透。机器人连得上飞书就能收消息。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571500" y="2590800"/>
            <a:ext cx="20955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0B1F3A"/>
                </a:solidFill>
                <a:latin typeface="Microsoft YaHei"/>
                <a:ea typeface="Microsoft YaHei"/>
              </a:rPr>
              <a:t>常驻进程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571500" y="295275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60">
                <a:solidFill>
                  <a:srgbClr val="1D4ED8"/>
                </a:solidFill>
                <a:latin typeface="Consolas"/>
                <a:ea typeface="Consolas"/>
              </a:rPr>
              <a:t>src/index.js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3238500" y="2590800"/>
            <a:ext cx="8382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秒内先回一句「收到」，真正的活进队列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飞书等不到响应就会重推同一条消息，所以还得按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message_id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去重，否则一条视频传两遍。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571500" y="3543300"/>
            <a:ext cx="20955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0B1F3A"/>
                </a:solidFill>
                <a:latin typeface="Microsoft YaHei"/>
                <a:ea typeface="Microsoft YaHei"/>
              </a:rPr>
              <a:t>干活的那段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571500" y="390525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60">
                <a:solidFill>
                  <a:srgbClr val="1D4ED8"/>
                </a:solidFill>
                <a:latin typeface="Consolas"/>
                <a:ea typeface="Consolas"/>
              </a:rPr>
              <a:t>src/worker.js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3238500" y="3543300"/>
            <a:ext cx="8382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下载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messageResource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（单文件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≤ 100 MB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）→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子进程用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bsk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驱动本机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Chrome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传分秒帧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或者直接调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bitable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接口改字段、读记录。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571500" y="4495800"/>
            <a:ext cx="20955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0B1F3A"/>
                </a:solidFill>
                <a:latin typeface="Microsoft YaHei"/>
                <a:ea typeface="Microsoft YaHei"/>
              </a:rPr>
              <a:t>回消息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571500" y="485775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60">
                <a:solidFill>
                  <a:srgbClr val="1D4ED8"/>
                </a:solidFill>
                <a:latin typeface="Consolas"/>
                <a:ea typeface="Consolas"/>
              </a:rPr>
              <a:t>IM API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3238500" y="4495800"/>
            <a:ext cx="8382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文件名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列表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N→N+1 +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项目链接。传完立刻回，不用再进平台确认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这一步是整条链路唯一给人看的输出。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2905125" y="1914525"/>
            <a:ext cx="9525" cy="28575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2857500" y="1743075"/>
            <a:ext cx="104775" cy="104775"/>
          </a:xfrm>
          <a:prstGeom prst="roundRect">
            <a:avLst>
              <a:gd name="adj" fmla="val 54545"/>
            </a:avLst>
          </a:prstGeom>
          <a:solidFill>
            <a:srgbClr val="1D4ED8"/>
          </a:solidFill>
          <a:ln w="38100">
            <a:solidFill>
              <a:srgbClr val="FFFFFF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2857500" y="2695575"/>
            <a:ext cx="104775" cy="104775"/>
          </a:xfrm>
          <a:prstGeom prst="roundRect">
            <a:avLst>
              <a:gd name="adj" fmla="val 54545"/>
            </a:avLst>
          </a:prstGeom>
          <a:solidFill>
            <a:srgbClr val="1D4ED8"/>
          </a:solidFill>
          <a:ln w="38100">
            <a:solidFill>
              <a:srgbClr val="FFFFFF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2857500" y="3648075"/>
            <a:ext cx="104775" cy="104775"/>
          </a:xfrm>
          <a:prstGeom prst="roundRect">
            <a:avLst>
              <a:gd name="adj" fmla="val 54545"/>
            </a:avLst>
          </a:prstGeom>
          <a:solidFill>
            <a:srgbClr val="F97316"/>
          </a:solidFill>
          <a:ln w="38100">
            <a:solidFill>
              <a:srgbClr val="FFFFFF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2857500" y="4600575"/>
            <a:ext cx="104775" cy="104775"/>
          </a:xfrm>
          <a:prstGeom prst="roundRect">
            <a:avLst>
              <a:gd name="adj" fmla="val 54545"/>
            </a:avLst>
          </a:prstGeom>
          <a:solidFill>
            <a:srgbClr val="1D4ED8"/>
          </a:solidFill>
          <a:ln w="38100">
            <a:solidFill>
              <a:srgbClr val="FFFFFF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571500" y="5705475"/>
            <a:ext cx="38100" cy="2095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742950" y="5638800"/>
            <a:ext cx="81153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0B1F3A"/>
                </a:solidFill>
                <a:latin typeface="Microsoft YaHei"/>
                <a:ea typeface="Microsoft YaHei"/>
              </a:rPr>
              <a:t>所以没有公网、没有服务器也能跑；代价是</a:t>
            </a:r>
            <a:r>
              <a:rPr lang="zh-CN" sz="1500" b="1">
                <a:solidFill>
                  <a:srgbClr val="F97316"/>
                </a:solidFill>
                <a:latin typeface="Microsoft YaHei"/>
                <a:ea typeface="Microsoft YaHei"/>
              </a:rPr>
              <a:t>这台机器不能关机</a:t>
            </a:r>
            <a:r>
              <a:rPr lang="en-US" sz="1500">
                <a:solidFill>
                  <a:srgbClr val="0B1F3A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0B1F3A"/>
                </a:solidFill>
                <a:latin typeface="Microsoft YaHei"/>
                <a:ea typeface="Microsoft YaHei"/>
              </a:rPr>
              <a:t>能力上限就是这台机器的上限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乌小河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技术分享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11210925" y="63817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07 / 18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2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20">
                <a:solidFill>
                  <a:srgbClr val="94A3B8"/>
                </a:solidFill>
                <a:latin typeface="Microsoft YaHei"/>
                <a:ea typeface="Microsoft YaHei"/>
              </a:rPr>
              <a:t>机器人到底是什么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571500" y="828675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0B1F3A"/>
                </a:solidFill>
                <a:latin typeface="Microsoft YaHei"/>
                <a:ea typeface="Microsoft YaHei"/>
              </a:rPr>
              <a:t>同一件事，两种跑法，差别在「谁在等」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571500" y="1466850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5867400" y="1676400"/>
            <a:ext cx="9525" cy="39243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571500" y="17240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  <p:txBody>
          <a:bodyPr/>
          <a:p>
            <a:pPr/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742950" y="167640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05">
                <a:solidFill>
                  <a:srgbClr val="94A3B8"/>
                </a:solidFill>
                <a:latin typeface="Microsoft YaHei"/>
                <a:ea typeface="Microsoft YaHei"/>
              </a:rPr>
              <a:t>以前</a:t>
            </a:r>
            <a:r>
              <a:rPr lang="en-US" sz="1050" spc="105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spc="105">
                <a:solidFill>
                  <a:srgbClr val="94A3B8"/>
                </a:solidFill>
                <a:latin typeface="Microsoft YaHei"/>
                <a:ea typeface="Microsoft YaHei"/>
              </a:rPr>
              <a:t>走</a:t>
            </a:r>
            <a:r>
              <a:rPr lang="en-US" sz="1050" spc="105">
                <a:solidFill>
                  <a:srgbClr val="94A3B8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050" spc="105">
                <a:solidFill>
                  <a:srgbClr val="94A3B8"/>
                </a:solidFill>
                <a:latin typeface="Microsoft YaHei"/>
                <a:ea typeface="Microsoft YaHei"/>
              </a:rPr>
              <a:t>通道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571500" y="1971675"/>
            <a:ext cx="476250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475569"/>
                </a:solidFill>
                <a:latin typeface="Microsoft YaHei"/>
                <a:ea typeface="Microsoft YaHei"/>
              </a:rPr>
              <a:t>每条消息，开一个会话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571500" y="2543175"/>
            <a:ext cx="47625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飞书云端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飞书连接器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→ WorkBuddy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客户端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571500" y="2952750"/>
            <a:ext cx="47625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每条消息起一个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会话（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cwd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在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Claw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目录）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571500" y="3362325"/>
            <a:ext cx="47625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会话里跑脚本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结果推回飞书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571500" y="4191000"/>
            <a:ext cx="4762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571500" y="4371975"/>
            <a:ext cx="47625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每条消息一次模型调用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传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70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集就是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70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571500" y="4819650"/>
            <a:ext cx="47625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任务绑在会话上，会话结束就断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571500" y="5267325"/>
            <a:ext cx="47625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好处：没写过的活，说人话也能干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6286500" y="17240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6457950" y="1676400"/>
            <a:ext cx="1819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05">
                <a:solidFill>
                  <a:srgbClr val="1D4ED8"/>
                </a:solidFill>
                <a:latin typeface="Microsoft YaHei"/>
                <a:ea typeface="Microsoft YaHei"/>
              </a:rPr>
              <a:t>现在</a:t>
            </a:r>
            <a:r>
              <a:rPr lang="en-US" sz="1050" spc="105">
                <a:solidFill>
                  <a:srgbClr val="1D4ED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spc="105">
                <a:solidFill>
                  <a:srgbClr val="1D4ED8"/>
                </a:solidFill>
                <a:latin typeface="Microsoft YaHei"/>
                <a:ea typeface="Microsoft YaHei"/>
              </a:rPr>
              <a:t>独立应用</a:t>
            </a:r>
            <a:r>
              <a:rPr lang="en-US" sz="1050" spc="105">
                <a:solidFill>
                  <a:srgbClr val="1D4ED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 spc="105">
                <a:solidFill>
                  <a:srgbClr val="1D4ED8"/>
                </a:solidFill>
                <a:latin typeface="Microsoft YaHei"/>
                <a:ea typeface="Microsoft YaHei"/>
              </a:rPr>
              <a:t>常驻进程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6286500" y="1971675"/>
            <a:ext cx="533400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0B1F3A"/>
                </a:solidFill>
                <a:latin typeface="Microsoft YaHei"/>
                <a:ea typeface="Microsoft YaHei"/>
              </a:rPr>
              <a:t>一个进程，等所有消息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6286500" y="2543175"/>
            <a:ext cx="53340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飞书云端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应用长连接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常驻进程（这台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Mac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6286500" y="2952750"/>
            <a:ext cx="53340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秒回执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队列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子进程干活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6286500" y="3362325"/>
            <a:ext cx="53340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回消息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写表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传平台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6286500" y="4191000"/>
            <a:ext cx="5334000" cy="9525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p>
            <a:pPr/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6286500" y="4371975"/>
            <a:ext cx="53340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0B1F3A"/>
                </a:solidFill>
                <a:latin typeface="Microsoft YaHei"/>
                <a:ea typeface="Microsoft YaHei"/>
              </a:rPr>
              <a:t>逻辑自己写、出错自己修，没人兜底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6286500" y="4819650"/>
            <a:ext cx="53340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0B1F3A"/>
                </a:solidFill>
                <a:latin typeface="Microsoft YaHei"/>
                <a:ea typeface="Microsoft YaHei"/>
              </a:rPr>
              <a:t>命令得按格式发，不会再猜你的意思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6286500" y="5267325"/>
            <a:ext cx="53340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0B1F3A"/>
                </a:solidFill>
                <a:latin typeface="Microsoft YaHei"/>
                <a:ea typeface="Microsoft YaHei"/>
              </a:rPr>
              <a:t>好处：不吃</a:t>
            </a:r>
            <a:r>
              <a:rPr lang="en-US" sz="1350">
                <a:solidFill>
                  <a:srgbClr val="0B1F3A"/>
                </a:solidFill>
                <a:latin typeface="Microsoft YaHei"/>
                <a:ea typeface="Microsoft YaHei"/>
              </a:rPr>
              <a:t xml:space="preserve"> token</a:t>
            </a:r>
            <a:r>
              <a:rPr lang="zh-CN" sz="1350">
                <a:solidFill>
                  <a:srgbClr val="0B1F3A"/>
                </a:solidFill>
                <a:latin typeface="Microsoft YaHei"/>
                <a:ea typeface="Microsoft YaHei"/>
              </a:rPr>
              <a:t>，回执快，能排队重试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571500" y="5838825"/>
            <a:ext cx="38100" cy="2095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742950" y="5772150"/>
            <a:ext cx="51435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0B1F3A"/>
                </a:solidFill>
                <a:latin typeface="Microsoft YaHei"/>
                <a:ea typeface="Microsoft YaHei"/>
              </a:rPr>
              <a:t>判断标准：</a:t>
            </a:r>
            <a:r>
              <a:rPr lang="zh-CN" sz="1500" b="1">
                <a:solidFill>
                  <a:srgbClr val="F97316"/>
                </a:solidFill>
                <a:latin typeface="Microsoft YaHei"/>
                <a:ea typeface="Microsoft YaHei"/>
              </a:rPr>
              <a:t>形状固定的活写进代码</a:t>
            </a:r>
            <a:r>
              <a:rPr lang="zh-CN" sz="1500">
                <a:solidFill>
                  <a:srgbClr val="0B1F3A"/>
                </a:solidFill>
                <a:latin typeface="Microsoft YaHei"/>
                <a:ea typeface="Microsoft YaHei"/>
              </a:rPr>
              <a:t>，形状不固定的活留给会话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乌小河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技术分享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11210925" y="63817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08 / 18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411" name="" descr="&lt;Slide style={{ width: 1280, height: 720, background: '#FFFFFF', padding: 60, position: 'relative' }}&gt;&#10;    &lt;Box style={{ position: 'absolute', left: 0, top: 0, width: 6, height: 720, background: '#1D4ED8' }} /&gt;&#10;    &lt;Box style={{ position: 'absolute', left: 96, top: 150, width: 1120, flexDirection: 'row', alignItems: 'flex-end', gap: 48 }}&gt;&#10;        &lt;Text style={{ fontSize: 180, fontWeight: 'bold', color: '#BFDBFE', lineHeight: 1, fontFamily: 'Microsoft YaHei' }}&gt;&#10;            03&#10;        &lt;/Text&gt;&#10;        &lt;Box style={{ flexDirection: 'column', width: 620, paddingBottom: 26 }}&gt;&#10;            &lt;Text style={{ fontSize: 56, fontWeight: 'bold', color: '#0B1F3A', lineHeight: 1.2, fontFamily: 'Microsoft YaHei' }}&gt;&#10;                多维表格 × 机器人&#10;            &lt;/Text&gt;&#10;            &lt;Box style={{ width: 440, height: 3, background: '#F97316', borderRadius: 2, marginTop: 26 }} /&gt;&#10;            &lt;Text style={{ fontSize: 20, color: '#475569', lineHeight: 1.7, marginTop: 22, fontFamily: 'Microsoft YaHei' }}&gt;&#10;                表里点一下、群里点一下，背后要三层东西接得上。缺一层，流程就断在半路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3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914400" y="1657350"/>
            <a:ext cx="1914525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>
                <a:solidFill>
                  <a:srgbClr val="BFDBFE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3286125" y="1428750"/>
            <a:ext cx="5905500" cy="7715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200" b="1">
                <a:solidFill>
                  <a:srgbClr val="0B1F3A"/>
                </a:solidFill>
                <a:latin typeface="Microsoft YaHei"/>
                <a:ea typeface="Microsoft YaHei"/>
              </a:rPr>
              <a:t>多维表格</a:t>
            </a:r>
            <a:r>
              <a:rPr lang="en-US" sz="4200" b="1">
                <a:solidFill>
                  <a:srgbClr val="0B1F3A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4200" b="1">
                <a:solidFill>
                  <a:srgbClr val="0B1F3A"/>
                </a:solidFill>
                <a:latin typeface="Microsoft YaHei"/>
                <a:ea typeface="Microsoft YaHei"/>
              </a:rPr>
              <a:t>机器人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3286125" y="2447925"/>
            <a:ext cx="4191000" cy="28575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3286125" y="2686050"/>
            <a:ext cx="590550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475569"/>
                </a:solidFill>
                <a:latin typeface="Microsoft YaHei"/>
                <a:ea typeface="Microsoft YaHei"/>
              </a:rPr>
              <a:t>表里点一下、群里点一下，背后要三层东西接得上。缺一层，流程就断在半路。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20">
                <a:solidFill>
                  <a:srgbClr val="94A3B8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1050" spc="120">
                <a:solidFill>
                  <a:srgbClr val="94A3B8"/>
                </a:solidFill>
                <a:latin typeface="Microsoft YaHei"/>
                <a:ea typeface="Microsoft YaHei"/>
              </a:rPr>
              <a:t>多维表格</a:t>
            </a:r>
            <a:r>
              <a:rPr lang="en-US" sz="1050" spc="120">
                <a:solidFill>
                  <a:srgbClr val="94A3B8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050" spc="120">
                <a:solidFill>
                  <a:srgbClr val="94A3B8"/>
                </a:solidFill>
                <a:latin typeface="Microsoft YaHei"/>
                <a:ea typeface="Microsoft YaHei"/>
              </a:rPr>
              <a:t>机器人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71500" y="828675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0B1F3A"/>
                </a:solidFill>
                <a:latin typeface="Microsoft YaHei"/>
                <a:ea typeface="Microsoft YaHei"/>
              </a:rPr>
              <a:t>要让表格动起来，得三层各接一段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571500" y="1466850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571500" y="1638300"/>
            <a:ext cx="8191500" cy="120015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781050" y="1752600"/>
            <a:ext cx="495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CBD5E1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447800" y="1809750"/>
            <a:ext cx="20288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B1F3A"/>
                </a:solidFill>
                <a:latin typeface="Microsoft YaHei"/>
                <a:ea typeface="Microsoft YaHei"/>
              </a:rPr>
              <a:t>触发</a:t>
            </a:r>
            <a:r>
              <a:rPr lang="en-US" sz="1800" b="1">
                <a:solidFill>
                  <a:srgbClr val="0B1F3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 b="1">
                <a:solidFill>
                  <a:srgbClr val="0B1F3A"/>
                </a:solidFill>
                <a:latin typeface="Microsoft YaHei"/>
                <a:ea typeface="Microsoft YaHei"/>
              </a:rPr>
              <a:t>什么时候动手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7353300" y="1809750"/>
            <a:ext cx="1295400" cy="276225"/>
          </a:xfrm>
          <a:prstGeom prst="roundRect">
            <a:avLst>
              <a:gd name="adj" fmla="val 20690"/>
            </a:avLst>
          </a:prstGeom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7467600" y="186690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表格里配，零代码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447800" y="2200275"/>
            <a:ext cx="72009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多维表格自带的自动化：记录新增、字段变更、到点跑、表单提交。选一个条件，就是整条流程的起点。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571500" y="2990850"/>
            <a:ext cx="9429750" cy="1200150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81050" y="3105150"/>
            <a:ext cx="495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BFDBFE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447800" y="3162300"/>
            <a:ext cx="1800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B1F3A"/>
                </a:solidFill>
                <a:latin typeface="Microsoft YaHei"/>
                <a:ea typeface="Microsoft YaHei"/>
              </a:rPr>
              <a:t>动作</a:t>
            </a:r>
            <a:r>
              <a:rPr lang="en-US" sz="1800" b="1">
                <a:solidFill>
                  <a:srgbClr val="0B1F3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 b="1">
                <a:solidFill>
                  <a:srgbClr val="0B1F3A"/>
                </a:solidFill>
                <a:latin typeface="Microsoft YaHei"/>
                <a:ea typeface="Microsoft YaHei"/>
              </a:rPr>
              <a:t>动手做什么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8820150" y="3162300"/>
            <a:ext cx="1066800" cy="276225"/>
          </a:xfrm>
          <a:prstGeom prst="roundRect">
            <a:avLst>
              <a:gd name="adj" fmla="val 20690"/>
            </a:avLst>
          </a:prstGeom>
          <a:ln w="12700">
            <a:solidFill>
              <a:srgbClr val="BFDBF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8934450" y="3219450"/>
            <a:ext cx="83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D4ED8"/>
                </a:solidFill>
                <a:latin typeface="Microsoft YaHei"/>
                <a:ea typeface="Microsoft YaHei"/>
              </a:rPr>
              <a:t xml:space="preserve">npm </a:t>
            </a:r>
            <a:r>
              <a:rPr lang="zh-CN" sz="1050">
                <a:solidFill>
                  <a:srgbClr val="1D4ED8"/>
                </a:solidFill>
                <a:latin typeface="Microsoft YaHei"/>
                <a:ea typeface="Microsoft YaHei"/>
              </a:rPr>
              <a:t>打包上传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1447800" y="3552825"/>
            <a:ext cx="84391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一个跑在飞书沙箱里的</a:t>
            </a: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 xml:space="preserve"> Node 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函数：接收表格传来的参数，发文本、发卡片、或者调接口</a:t>
            </a:r>
            <a:r>
              <a:rPr lang="en-US" sz="1350">
                <a:solidFill>
                  <a:srgbClr val="334155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334155"/>
                </a:solidFill>
                <a:latin typeface="Microsoft YaHei"/>
                <a:ea typeface="Microsoft YaHei"/>
              </a:rPr>
              <a:t>我们就写了这么一个。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571500" y="4343400"/>
            <a:ext cx="10668000" cy="1295400"/>
          </a:xfrm>
          <a:prstGeom prst="roundRect">
            <a:avLst>
              <a:gd name="adj" fmla="val 8824"/>
            </a:avLst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81050" y="4495800"/>
            <a:ext cx="495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7BA3F0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447800" y="4552950"/>
            <a:ext cx="1800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回写</a:t>
            </a: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结果写回哪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9658350" y="4552950"/>
            <a:ext cx="1428750" cy="276225"/>
          </a:xfrm>
          <a:prstGeom prst="roundRect">
            <a:avLst>
              <a:gd name="adj" fmla="val 20690"/>
            </a:avLst>
          </a:prstGeom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9772650" y="461010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BEAFE"/>
                </a:solidFill>
                <a:latin typeface="Microsoft YaHei"/>
                <a:ea typeface="Microsoft YaHei"/>
              </a:rPr>
              <a:t>自己接，或用表单绕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447800" y="4962525"/>
            <a:ext cx="96393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E6EEFF"/>
                </a:solidFill>
                <a:latin typeface="Microsoft YaHei"/>
                <a:ea typeface="Microsoft YaHei"/>
              </a:rPr>
              <a:t>按钮点下去要改记录，得有人接住这个事件（</a:t>
            </a:r>
            <a:r>
              <a:rPr lang="en-US" sz="1350">
                <a:solidFill>
                  <a:srgbClr val="E6EEFF"/>
                </a:solidFill>
                <a:latin typeface="Microsoft YaHei"/>
                <a:ea typeface="Microsoft YaHei"/>
              </a:rPr>
              <a:t>card.action.trigger</a:t>
            </a:r>
            <a:r>
              <a:rPr lang="zh-CN" sz="1350">
                <a:solidFill>
                  <a:srgbClr val="E6EEFF"/>
                </a:solidFill>
                <a:latin typeface="Microsoft YaHei"/>
                <a:ea typeface="Microsoft YaHei"/>
              </a:rPr>
              <a:t>），解析参数再调接口写回。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447800" y="5295900"/>
            <a:ext cx="96393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BFD3FF"/>
                </a:solidFill>
                <a:latin typeface="Microsoft YaHei"/>
                <a:ea typeface="Microsoft YaHei"/>
              </a:rPr>
              <a:t>这一步官方没给现成方案</a:t>
            </a:r>
            <a:r>
              <a:rPr lang="en-US" sz="1350">
                <a:solidFill>
                  <a:srgbClr val="BFD3FF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BFD3FF"/>
                </a:solidFill>
                <a:latin typeface="Microsoft YaHei"/>
                <a:ea typeface="Microsoft YaHei"/>
              </a:rPr>
              <a:t>它是「通知」和「流程」的分水岭。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571500" y="5857875"/>
            <a:ext cx="38100" cy="2095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42950" y="5791200"/>
            <a:ext cx="62865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0B1F3A"/>
                </a:solidFill>
                <a:latin typeface="Microsoft YaHei"/>
                <a:ea typeface="Microsoft YaHei"/>
              </a:rPr>
              <a:t>前两层是开箱的，</a:t>
            </a:r>
            <a:r>
              <a:rPr lang="zh-CN" sz="1500" b="1">
                <a:solidFill>
                  <a:srgbClr val="F97316"/>
                </a:solidFill>
                <a:latin typeface="Microsoft YaHei"/>
                <a:ea typeface="Microsoft YaHei"/>
              </a:rPr>
              <a:t>第三层才是分水岭</a:t>
            </a:r>
            <a:r>
              <a:rPr lang="zh-CN" sz="1500">
                <a:solidFill>
                  <a:srgbClr val="0B1F3A"/>
                </a:solidFill>
                <a:latin typeface="Microsoft YaHei"/>
                <a:ea typeface="Microsoft YaHei"/>
              </a:rPr>
              <a:t>：接得住，才叫「点一下就把表改了」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乌小河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技术分享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1210925" y="63817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10 / 18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20">
                <a:solidFill>
                  <a:srgbClr val="94A3B8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1050" spc="120">
                <a:solidFill>
                  <a:srgbClr val="94A3B8"/>
                </a:solidFill>
                <a:latin typeface="Microsoft YaHei"/>
                <a:ea typeface="Microsoft YaHei"/>
              </a:rPr>
              <a:t>多维表格</a:t>
            </a:r>
            <a:r>
              <a:rPr lang="en-US" sz="1050" spc="120">
                <a:solidFill>
                  <a:srgbClr val="94A3B8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050" spc="120">
                <a:solidFill>
                  <a:srgbClr val="94A3B8"/>
                </a:solidFill>
                <a:latin typeface="Microsoft YaHei"/>
                <a:ea typeface="Microsoft YaHei"/>
              </a:rPr>
              <a:t>机器人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571500" y="828675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0B1F3A"/>
                </a:solidFill>
                <a:latin typeface="Microsoft YaHei"/>
                <a:ea typeface="Microsoft YaHei"/>
              </a:rPr>
              <a:t>一个插件，只有三个函数位置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571500" y="1466850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571500" y="1676400"/>
            <a:ext cx="5905500" cy="4619625"/>
          </a:xfrm>
          <a:prstGeom prst="roundRect">
            <a:avLst>
              <a:gd name="adj" fmla="val 1649"/>
            </a:avLst>
          </a:prstGeom>
          <a:solidFill>
            <a:srgbClr val="F6F8FA"/>
          </a:solidFill>
          <a:ln/>
        </p:spPr>
        <p:txBody>
          <a:bodyPr/>
          <a:p>
            <a:pPr/>
            <a:endParaRPr/>
          </a:p>
        </p:txBody>
      </p:sp>
      <p:sp>
        <p:nvSpPr>
          <p:cNvPr id="48" name=""/>
          <p:cNvSpPr txBox="1"/>
          <p:nvPr/>
        </p:nvSpPr>
        <p:spPr>
          <a:xfrm rot="0" flipH="0" flipV="0">
            <a:off x="723900" y="2000250"/>
            <a:ext cx="5600700" cy="416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basekit.</a:t>
            </a: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addAction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({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 formItems: [                          </a:t>
            </a: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// 1 · 表格里让人填什么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   { itemId: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'to'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  component: Component.ContactPicker },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   { itemId: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'text'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component: Component.Input },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 ],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execute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: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async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(</a:t>
            </a:r>
            <a:r>
              <a:rPr sz="975">
                <a:solidFill>
                  <a:srgbClr val="E36209"/>
                </a:solidFill>
                <a:latin typeface="Menlo"/>
                <a:ea typeface="Menlo"/>
              </a:rPr>
              <a:t>args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, </a:t>
            </a:r>
            <a:r>
              <a:rPr sz="975">
                <a:solidFill>
                  <a:srgbClr val="E36209"/>
                </a:solidFill>
                <a:latin typeface="Menlo"/>
                <a:ea typeface="Menlo"/>
              </a:rPr>
              <a:t>context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)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=&gt;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{   </a:t>
            </a: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// 2 · 点下去做什么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const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to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,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text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}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args;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const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url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'https://open.feishu.cn/open-apis/im/v1/messages'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const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res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await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context.</a:t>
            </a: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fetch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(url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+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'?receive_id_type='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+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kind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(to), {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     method: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'POST'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     headers: { Authorization: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'Bearer '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+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context.tenantAccessToken },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     body: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JSON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.</a:t>
            </a: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stringify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({ receive_id: to.id, msg_type: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'text'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                            content: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JSON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.</a:t>
            </a: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stringify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({ text }) }),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   });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return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{ success: res.ok, messageId: res.data?.message_id };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 },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 resultType: { success: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'boolean'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, messageId: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'string'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},   </a:t>
            </a: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// 3 · 出参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});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704850" y="1790700"/>
            <a:ext cx="76200" cy="7620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>
            <a:pPr/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838200" y="1790700"/>
            <a:ext cx="76200" cy="7620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>
            <a:pPr/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971550" y="1790700"/>
            <a:ext cx="76200" cy="7620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>
            <a:pPr/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524750" y="1676400"/>
            <a:ext cx="152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D4ED8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772400" y="167640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F3A"/>
                </a:solidFill>
                <a:latin typeface="Microsoft YaHei"/>
                <a:ea typeface="Microsoft YaHei"/>
              </a:rPr>
              <a:t>表单即接口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524750" y="1962150"/>
            <a:ext cx="40957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formItems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里的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itemId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，就是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execute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收到的参数名。表格里让人填什么，代码里就收什么。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524750" y="2876550"/>
            <a:ext cx="152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D4ED8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772400" y="2876550"/>
            <a:ext cx="1628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F3A"/>
                </a:solidFill>
                <a:latin typeface="Microsoft YaHei"/>
                <a:ea typeface="Microsoft YaHei"/>
              </a:rPr>
              <a:t>只有</a:t>
            </a:r>
            <a:r>
              <a:rPr lang="en-US" sz="1500" b="1">
                <a:solidFill>
                  <a:srgbClr val="0B1F3A"/>
                </a:solidFill>
                <a:latin typeface="Microsoft YaHei"/>
                <a:ea typeface="Microsoft YaHei"/>
              </a:rPr>
              <a:t xml:space="preserve"> context.fetch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524750" y="3162300"/>
            <a:ext cx="40957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线上沙箱不认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axios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sharp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moment ——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只给原生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fetch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和几个基础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API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524750" y="4076700"/>
            <a:ext cx="152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D4ED8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772400" y="4076700"/>
            <a:ext cx="1514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F3A"/>
                </a:solidFill>
                <a:latin typeface="Microsoft YaHei"/>
                <a:ea typeface="Microsoft YaHei"/>
              </a:rPr>
              <a:t>别忘了声明</a:t>
            </a:r>
            <a:r>
              <a:rPr lang="en-US" sz="1500" b="1">
                <a:solidFill>
                  <a:srgbClr val="0B1F3A"/>
                </a:solidFill>
                <a:latin typeface="Microsoft YaHei"/>
                <a:ea typeface="Microsoft YaHei"/>
              </a:rPr>
              <a:t xml:space="preserve"> token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7524750" y="4362450"/>
            <a:ext cx="40957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不写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useTenantAccessToken: true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，就拿不到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tenantAccessToken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，发消息直接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401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7524750" y="5276850"/>
            <a:ext cx="409575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524750" y="5534025"/>
            <a:ext cx="40957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代码不到三十行，真花时间的是打包上传：编译产物传错目录，后台就找不到版本。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乌小河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技术分享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1220450" y="63817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11 / 18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65" name="" descr="&lt;Slide style={{ width: 1280, height: 720, background: '#FFFFFF', padding: 60, position: 'relative' }}&gt;&#10;    &lt;Box style={{ flexDirection: 'column' }}&gt;&#10;        &lt;Text style={{ fontSize: 14, color: '#94A3B8', letterSpacing: 1.6, fontFamily: 'Microsoft YaHei' }}&gt;&#10;            03 · 多维表格 × 机器人&#10;        &lt;/Text&gt;&#10;        &lt;Text style={{ fontSize: 34, fontWeight: 'bold', color: '#0B1F3A', lineHeight: 1.2, marginTop: 10, fontFamily: 'Microsoft YaHei' }}&gt;&#10;            按钮点下去之后，得有人接住&#10;        &lt;/Text&gt;&#10;        &lt;Box style={{ width: '100%', height: 1, background: '#E2E8F0', marginTop: 18 }} /&gt;&#10;    &lt;/Box&gt;&#10;&#10;    {/* 表格容器 */}&#10;    &lt;Box style={{ position: 'absolute', left: 60, top: 176, width: 1160, height: 372, border: '1px solid #E2E8F0', borderRadius: 12, flexDirection: 'column' }}&gt;&#10;        &lt;Box style={{ height: 44, flexDirection: 'row', alignItems: 'center', background: '#F8FAFC', borderTopLeftRadius: 12, borderTopRightRadius: 12, paddingLeft: 24, paddingRight: 24 }}&gt;&#10;            &lt;Text style={{ fontSize: 14, color: '#64748B', width: 180, fontFamily: 'Microsoft YaHei' }}&gt;方案&lt;/Text&gt;&#10;            &lt;Text style={{ fontSize: 14, color: '#64748B', width: 420, fontFamily: 'Microsoft YaHei' }}&gt;怎么做的&lt;/Text&gt;&#10;            &lt;Text style={{ fontSize: 14, color: '#64748B', width: 290, fontFamily: 'Microsoft YaHei' }}&gt;代价&lt;/Text&gt;&#10;            &lt;Text style={{ fontSize: 14, color: '#64748B', width: 220, fontFamily: 'Microsoft YaHei' }}&gt;什么时候用&lt;/Text&gt;&#10;        &lt;/Box&gt;&#10;        {[&#10;            {&#10;                name: 'C1 · 卡片回调',&#10;                how: '常驻消费者收 card.action.trigger，解析按钮 value，调 bitable 改记录，再用回调 token 更新卡片',&#10;                cost: '要一个稳定消费者；同一应用只能有一个，和消息长连接抢事件',&#10;                when: '高频、要「一键改状态」的那几步',&#10;            },&#10;            {&#10;                name: 'C2 · 跳表单',&#10;                how: '按钮 open_url 跳到多维表格表单，提交后由飞书原生写回记录',&#10;                cost: '要做一张表单；点了还得填一下，不是一键',&#10;                when: '先让流程当天就能跑起来',&#10;            },&#10;            {&#10;                name: 'C3 · 只跳详情',&#10;                how: '按钮直接打开这条记录的详情页，人自己找字段改',&#10;                cost: '零成本，但等于没自动化',&#10;                when: '低频、只是让人看见这条记录',&#10;            },&#10;        ].map((r, i) =&gt; (&#10;            &lt;Box key={i} style={{ height: 109, flexDirection: 'row', borderBottom: '1px solid #EEF2F7', paddingLeft: 24, paddingRight: 24, paddingTop: 18 }}&gt;&#10;                &lt;Text style={{ fontSize: 18, fontWeight: 'bold', color: '#1D4ED8', width: 180, fontFamily: 'Microsoft YaHei' }}&gt;{r.name}&lt;/Text&gt;&#10;                &lt;Text style={{ fontSize: 16, color: '#334155', lineHeight: 1.5, width: 420, fontFamily: 'Microsoft YaHei' }}&gt;{r.how}&lt;/Text&gt;&#10;                &lt;Text style={{ fontSize: 16, color: '#475569', lineHeight: 1.5, width: 290, fontFamily: 'Microsoft YaHei' }}&gt;{r.cost}&lt;/Text&gt;&#10;                &lt;Text style={{ fontSize: 16, color: '#475569', lineHeight: 1.5, width: 220, fontFamily: 'Microsoft YaHei' }}&gt;{r.when}&lt;/Text&gt;&#10;            &lt;/Box&gt;&#10;        ))}&#10;    &lt;/Box&gt;&#10;&#10;    {/* 底部结论 */}&#10;    &lt;Box style={{ position: 'absolute', left: 60, top: 588, width: 1160, flexDirection: 'row', alignItems: 'center', gap: 14 }}&gt;&#10;        &lt;Box style={{ width: 4, height: 22, background: '#F97316', borderRadius: 2 }} /&gt;&#10;        &lt;Text style={{ fontSize: 20, color: '#0B1F3A', lineHeight: 1.5, fontFamily: 'Microsoft YaHei' }}&gt;&#10;            我们的顺序：&lt;span style={{ color: '#F97316', fontWeight: 'bold' }}&gt;先用 C2 让流程跑起来&lt;/span&gt;，再验 C1；实测抢事件，就把它拆到第二个应用上&#10;        &lt;/Text&gt;&#10;    &lt;/Box&gt;&#10;&#10;    {/* 页脚 */}&#10;    &lt;Box style={{ position: 'absolute', left: 60, top: 670, width: 1160, flexDirection: 'row', justifyContent: 'space-between' }}&gt;&#10;        &lt;Text style={{ fontSize: 14, color: '#94A3B8', fontFamily: 'Microsoft YaHei' }}&gt;乌小河 · 技术分享&lt;/Text&gt;&#10;        &lt;Text style={{ fontSize: 14, color: '#94A3B8', fontFamily: 'Microsoft YaHei' }}&gt;12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20">
                <a:solidFill>
                  <a:srgbClr val="94A3B8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1050" spc="120">
                <a:solidFill>
                  <a:srgbClr val="94A3B8"/>
                </a:solidFill>
                <a:latin typeface="Microsoft YaHei"/>
                <a:ea typeface="Microsoft YaHei"/>
              </a:rPr>
              <a:t>多维表格</a:t>
            </a:r>
            <a:r>
              <a:rPr lang="en-US" sz="1050" spc="120">
                <a:solidFill>
                  <a:srgbClr val="94A3B8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050" spc="120">
                <a:solidFill>
                  <a:srgbClr val="94A3B8"/>
                </a:solidFill>
                <a:latin typeface="Microsoft YaHei"/>
                <a:ea typeface="Microsoft YaHei"/>
              </a:rPr>
              <a:t>机器人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571500" y="828675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0B1F3A"/>
                </a:solidFill>
                <a:latin typeface="Microsoft YaHei"/>
                <a:ea typeface="Microsoft YaHei"/>
              </a:rPr>
              <a:t>按钮点下去之后，得有人接住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571500" y="1466850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571500" y="1676400"/>
            <a:ext cx="11049000" cy="3543300"/>
          </a:xfrm>
          <a:prstGeom prst="roundRect">
            <a:avLst>
              <a:gd name="adj" fmla="val 3226"/>
            </a:avLst>
          </a:prstGeom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571500" y="1676400"/>
            <a:ext cx="11049000" cy="419100"/>
          </a:xfrm>
          <a:custGeom>
            <a:pathLst>
              <a:path w="1160" h="44">
                <a:moveTo>
                  <a:pt x="12" y="0"/>
                </a:moveTo>
                <a:lnTo>
                  <a:pt x="1148" y="0"/>
                </a:lnTo>
                <a:cubicBezTo>
                  <a:pt x="1155" y="0"/>
                  <a:pt x="1160" y="5"/>
                  <a:pt x="1160" y="12"/>
                </a:cubicBezTo>
                <a:lnTo>
                  <a:pt x="1160" y="44"/>
                </a:lnTo>
                <a:lnTo>
                  <a:pt x="1160" y="44"/>
                </a:lnTo>
                <a:lnTo>
                  <a:pt x="0" y="44"/>
                </a:lnTo>
                <a:lnTo>
                  <a:pt x="0" y="44"/>
                </a:ln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F8FAFC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00100" y="180975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方案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2514600" y="1809750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怎么做的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515100" y="1809750"/>
            <a:ext cx="276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代价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9277350" y="180975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什么时候用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571500" y="2095500"/>
            <a:ext cx="11049000" cy="1038225"/>
          </a:xfrm>
          <a:custGeom>
            <a:pathLst>
              <a:path w="1160" h="109">
                <a:moveTo>
                  <a:pt x="0" y="108"/>
                </a:moveTo>
                <a:lnTo>
                  <a:pt x="1160" y="108"/>
                </a:lnTo>
                <a:lnTo>
                  <a:pt x="1160" y="109"/>
                </a:lnTo>
                <a:lnTo>
                  <a:pt x="0" y="109"/>
                </a:lnTo>
                <a:close/>
              </a:path>
            </a:pathLst>
          </a:custGeom>
          <a:solidFill>
            <a:srgbClr val="EEF2F7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00100" y="2266950"/>
            <a:ext cx="1714500" cy="857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D4ED8"/>
                </a:solidFill>
                <a:latin typeface="Microsoft YaHei"/>
                <a:ea typeface="Microsoft YaHei"/>
              </a:rPr>
              <a:t xml:space="preserve">C1 · </a:t>
            </a:r>
            <a:r>
              <a:rPr lang="zh-CN" sz="1350" b="1">
                <a:solidFill>
                  <a:srgbClr val="1D4ED8"/>
                </a:solidFill>
                <a:latin typeface="Microsoft YaHei"/>
                <a:ea typeface="Microsoft YaHei"/>
              </a:rPr>
              <a:t>卡片回调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2514600" y="2266950"/>
            <a:ext cx="40005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常驻消费者收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 xml:space="preserve"> card.action.trigger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，解析按钮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 xml:space="preserve"> value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，调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 xml:space="preserve"> bitable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改记录，再用回调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更新卡片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515100" y="2266950"/>
            <a:ext cx="27622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要一个稳定消费者；同一应用只能有一个，和消息长连接抢事件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9277350" y="2266950"/>
            <a:ext cx="20955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高频、要「一键改状态」的那几步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571500" y="3133725"/>
            <a:ext cx="11049000" cy="1038225"/>
          </a:xfrm>
          <a:custGeom>
            <a:pathLst>
              <a:path w="1160" h="109">
                <a:moveTo>
                  <a:pt x="0" y="108"/>
                </a:moveTo>
                <a:lnTo>
                  <a:pt x="1160" y="108"/>
                </a:lnTo>
                <a:lnTo>
                  <a:pt x="1160" y="109"/>
                </a:lnTo>
                <a:lnTo>
                  <a:pt x="0" y="109"/>
                </a:lnTo>
                <a:close/>
              </a:path>
            </a:pathLst>
          </a:custGeom>
          <a:solidFill>
            <a:srgbClr val="EEF2F7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00100" y="3305175"/>
            <a:ext cx="1714500" cy="857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D4ED8"/>
                </a:solidFill>
                <a:latin typeface="Microsoft YaHei"/>
                <a:ea typeface="Microsoft YaHei"/>
              </a:rPr>
              <a:t xml:space="preserve">C2 · </a:t>
            </a:r>
            <a:r>
              <a:rPr lang="zh-CN" sz="1350" b="1">
                <a:solidFill>
                  <a:srgbClr val="1D4ED8"/>
                </a:solidFill>
                <a:latin typeface="Microsoft YaHei"/>
                <a:ea typeface="Microsoft YaHei"/>
              </a:rPr>
              <a:t>跳表单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2514600" y="3305175"/>
            <a:ext cx="40005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按钮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 xml:space="preserve"> open_url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跳到多维表格表单，提交后由飞书原生写回记录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515100" y="3305175"/>
            <a:ext cx="27622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要做一张表单；点了还得填一下，不是一键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9277350" y="3305175"/>
            <a:ext cx="2095500" cy="8572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先让流程当天就能跑起来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571500" y="4171950"/>
            <a:ext cx="11049000" cy="1038225"/>
          </a:xfrm>
          <a:custGeom>
            <a:pathLst>
              <a:path w="1160" h="109">
                <a:moveTo>
                  <a:pt x="0" y="108"/>
                </a:moveTo>
                <a:lnTo>
                  <a:pt x="1160" y="108"/>
                </a:lnTo>
                <a:lnTo>
                  <a:pt x="1160" y="109"/>
                </a:lnTo>
                <a:lnTo>
                  <a:pt x="0" y="109"/>
                </a:lnTo>
                <a:close/>
              </a:path>
            </a:pathLst>
          </a:custGeom>
          <a:solidFill>
            <a:srgbClr val="EEF2F7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00100" y="4343400"/>
            <a:ext cx="1714500" cy="857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D4ED8"/>
                </a:solidFill>
                <a:latin typeface="Microsoft YaHei"/>
                <a:ea typeface="Microsoft YaHei"/>
              </a:rPr>
              <a:t xml:space="preserve">C3 · </a:t>
            </a:r>
            <a:r>
              <a:rPr lang="zh-CN" sz="1350" b="1">
                <a:solidFill>
                  <a:srgbClr val="1D4ED8"/>
                </a:solidFill>
                <a:latin typeface="Microsoft YaHei"/>
                <a:ea typeface="Microsoft YaHei"/>
              </a:rPr>
              <a:t>只跳详情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2514600" y="4343400"/>
            <a:ext cx="4000500" cy="8572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按钮直接打开这条记录的详情页，人自己找字段改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515100" y="4343400"/>
            <a:ext cx="2762250" cy="8572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零成本，但等于没自动化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9277350" y="4343400"/>
            <a:ext cx="2095500" cy="8572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低频、只是让人看见这条记录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571500" y="5667375"/>
            <a:ext cx="38100" cy="2095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42950" y="5600700"/>
            <a:ext cx="73152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0B1F3A"/>
                </a:solidFill>
                <a:latin typeface="Microsoft YaHei"/>
                <a:ea typeface="Microsoft YaHei"/>
              </a:rPr>
              <a:t>我们的顺序：</a:t>
            </a:r>
            <a:r>
              <a:rPr lang="zh-CN" sz="1500" b="1">
                <a:solidFill>
                  <a:srgbClr val="F97316"/>
                </a:solidFill>
                <a:latin typeface="Microsoft YaHei"/>
                <a:ea typeface="Microsoft YaHei"/>
              </a:rPr>
              <a:t>先用</a:t>
            </a:r>
            <a:r>
              <a:rPr lang="en-US" sz="1500" b="1">
                <a:solidFill>
                  <a:srgbClr val="F97316"/>
                </a:solidFill>
                <a:latin typeface="Microsoft YaHei"/>
                <a:ea typeface="Microsoft YaHei"/>
              </a:rPr>
              <a:t xml:space="preserve"> C2 </a:t>
            </a:r>
            <a:r>
              <a:rPr lang="zh-CN" sz="1500" b="1">
                <a:solidFill>
                  <a:srgbClr val="F97316"/>
                </a:solidFill>
                <a:latin typeface="Microsoft YaHei"/>
                <a:ea typeface="Microsoft YaHei"/>
              </a:rPr>
              <a:t>让流程跑起来</a:t>
            </a:r>
            <a:r>
              <a:rPr lang="zh-CN" sz="1500">
                <a:solidFill>
                  <a:srgbClr val="0B1F3A"/>
                </a:solidFill>
                <a:latin typeface="Microsoft YaHei"/>
                <a:ea typeface="Microsoft YaHei"/>
              </a:rPr>
              <a:t>，再验</a:t>
            </a:r>
            <a:r>
              <a:rPr lang="en-US" sz="1500">
                <a:solidFill>
                  <a:srgbClr val="0B1F3A"/>
                </a:solidFill>
                <a:latin typeface="Microsoft YaHei"/>
                <a:ea typeface="Microsoft YaHei"/>
              </a:rPr>
              <a:t xml:space="preserve"> C1</a:t>
            </a:r>
            <a:r>
              <a:rPr lang="zh-CN" sz="1500">
                <a:solidFill>
                  <a:srgbClr val="0B1F3A"/>
                </a:solidFill>
                <a:latin typeface="Microsoft YaHei"/>
                <a:ea typeface="Microsoft YaHei"/>
              </a:rPr>
              <a:t>；实测抢事件，就把它拆到第二个应用上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乌小河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技术分享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1210925" y="63817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12 / 18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20">
                <a:solidFill>
                  <a:srgbClr val="94A3B8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1050" spc="120">
                <a:solidFill>
                  <a:srgbClr val="94A3B8"/>
                </a:solidFill>
                <a:latin typeface="Microsoft YaHei"/>
                <a:ea typeface="Microsoft YaHei"/>
              </a:rPr>
              <a:t>多维表格</a:t>
            </a:r>
            <a:r>
              <a:rPr lang="en-US" sz="1050" spc="120">
                <a:solidFill>
                  <a:srgbClr val="94A3B8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050" spc="120">
                <a:solidFill>
                  <a:srgbClr val="94A3B8"/>
                </a:solidFill>
                <a:latin typeface="Microsoft YaHei"/>
                <a:ea typeface="Microsoft YaHei"/>
              </a:rPr>
              <a:t>机器人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571500" y="828675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0B1F3A"/>
                </a:solidFill>
                <a:latin typeface="Microsoft YaHei"/>
                <a:ea typeface="Microsoft YaHei"/>
              </a:rPr>
              <a:t>现在真在跑的三件事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571500" y="1466850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571500" y="1676400"/>
            <a:ext cx="11049000" cy="1238250"/>
          </a:xfrm>
          <a:custGeom>
            <a:pathLst>
              <a:path w="1160" h="130">
                <a:moveTo>
                  <a:pt x="0" y="129"/>
                </a:moveTo>
                <a:lnTo>
                  <a:pt x="1160" y="129"/>
                </a:lnTo>
                <a:lnTo>
                  <a:pt x="1160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71500" y="1847850"/>
            <a:ext cx="2381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D4ED8"/>
                </a:solidFill>
                <a:latin typeface="Consolas"/>
                <a:ea typeface="Consolas"/>
              </a:rPr>
              <a:t>/base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571500" y="2171700"/>
            <a:ext cx="419100" cy="219075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47700" y="22002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D4ED8"/>
                </a:solidFill>
                <a:latin typeface="Microsoft YaHei"/>
                <a:ea typeface="Microsoft YaHei"/>
              </a:rPr>
              <a:t>在跑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2952750" y="1847850"/>
            <a:ext cx="84772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0B1F3A"/>
                </a:solidFill>
                <a:latin typeface="Microsoft YaHei"/>
                <a:ea typeface="Microsoft YaHei"/>
              </a:rPr>
              <a:t>一句话改表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2952750" y="2257425"/>
            <a:ext cx="84772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发一句「把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70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集的素材生成进展改成已上传」，机器人拆出集数、字段、值（值认别名），定位记录再写字段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省的是在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70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行里翻找你那一集。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571500" y="2914650"/>
            <a:ext cx="11049000" cy="1238250"/>
          </a:xfrm>
          <a:custGeom>
            <a:pathLst>
              <a:path w="1160" h="130">
                <a:moveTo>
                  <a:pt x="0" y="129"/>
                </a:moveTo>
                <a:lnTo>
                  <a:pt x="1160" y="129"/>
                </a:lnTo>
                <a:lnTo>
                  <a:pt x="1160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571500" y="3086100"/>
            <a:ext cx="2381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D4ED8"/>
                </a:solidFill>
                <a:latin typeface="Consolas"/>
                <a:ea typeface="Consolas"/>
              </a:rPr>
              <a:t>/tbpz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571500" y="3409950"/>
            <a:ext cx="419100" cy="219075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47700" y="343852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D4ED8"/>
                </a:solidFill>
                <a:latin typeface="Microsoft YaHei"/>
                <a:ea typeface="Microsoft YaHei"/>
              </a:rPr>
              <a:t>在跑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2952750" y="3086100"/>
            <a:ext cx="84772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0B1F3A"/>
                </a:solidFill>
                <a:latin typeface="Microsoft YaHei"/>
                <a:ea typeface="Microsoft YaHei"/>
              </a:rPr>
              <a:t>批注回表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2952750" y="3495675"/>
            <a:ext cx="84772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审片人写在分秒帧时间轴上的意见，按镜头同步到表格的对应记录；加一句「预览」就只读不写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省的是边看片边抄。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571500" y="4152900"/>
            <a:ext cx="11049000" cy="1238250"/>
          </a:xfrm>
          <a:custGeom>
            <a:pathLst>
              <a:path w="1160" h="130">
                <a:moveTo>
                  <a:pt x="0" y="129"/>
                </a:moveTo>
                <a:lnTo>
                  <a:pt x="1160" y="129"/>
                </a:lnTo>
                <a:lnTo>
                  <a:pt x="1160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571500" y="4324350"/>
            <a:ext cx="2381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D4ED8"/>
                </a:solidFill>
                <a:latin typeface="Consolas"/>
                <a:ea typeface="Consolas"/>
              </a:rPr>
              <a:t>card.action.trigger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571500" y="4648200"/>
            <a:ext cx="819150" cy="219075"/>
          </a:xfrm>
          <a:prstGeom prst="roundRect">
            <a:avLst>
              <a:gd name="adj" fmla="val 17391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47700" y="467677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A580C"/>
                </a:solidFill>
                <a:latin typeface="Microsoft YaHei"/>
                <a:ea typeface="Microsoft YaHei"/>
              </a:rPr>
              <a:t>待订阅事件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2952750" y="4324350"/>
            <a:ext cx="84772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0B1F3A"/>
                </a:solidFill>
                <a:latin typeface="Microsoft YaHei"/>
                <a:ea typeface="Microsoft YaHei"/>
              </a:rPr>
              <a:t>审阅卡片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2952750" y="4733925"/>
            <a:ext cx="84772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一审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上传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精剪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终审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定剪，阶段一变卡片就进项目群，点按钮直接改状态字段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省的是有人问「这集到哪了」。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571500" y="5724525"/>
            <a:ext cx="38100" cy="2095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42950" y="5657850"/>
            <a:ext cx="75438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0B1F3A"/>
                </a:solidFill>
                <a:latin typeface="Microsoft YaHei"/>
                <a:ea typeface="Microsoft YaHei"/>
              </a:rPr>
              <a:t>三件事的共同点：</a:t>
            </a:r>
            <a:r>
              <a:rPr lang="zh-CN" sz="1500" b="1">
                <a:solidFill>
                  <a:srgbClr val="F97316"/>
                </a:solidFill>
                <a:latin typeface="Microsoft YaHei"/>
                <a:ea typeface="Microsoft YaHei"/>
              </a:rPr>
              <a:t>输入是确定的，输出是一条记录</a:t>
            </a:r>
            <a:r>
              <a:rPr lang="en-US" sz="1500">
                <a:solidFill>
                  <a:srgbClr val="0B1F3A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0B1F3A"/>
                </a:solidFill>
                <a:latin typeface="Microsoft YaHei"/>
                <a:ea typeface="Microsoft YaHei"/>
              </a:rPr>
              <a:t>所以能写成代码，不用每次问模型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乌小河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技术分享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1210925" y="63817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13 / 18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22" name="" descr="&lt;Slide style={{ width: 1280, height: 720, background: '#FFFFFF', padding: 60, position: 'relative' }}&gt;&#10;    &lt;Box style={{ position: 'absolute', left: 0, top: 0, width: 6, height: 720, background: '#1D4ED8' }} /&gt;&#10;    &lt;Box style={{ position: 'absolute', left: 96, top: 150, width: 1120, flexDirection: 'row', alignItems: 'flex-end', gap: 48 }}&gt;&#10;        &lt;Text style={{ fontSize: 180, fontWeight: 'bold', color: '#BFDBFE', lineHeight: 1, fontFamily: 'Microsoft YaHei' }}&gt;&#10;            04&#10;        &lt;/Text&gt;&#10;        &lt;Box style={{ flexDirection: 'column', width: 620, paddingBottom: 26 }}&gt;&#10;            &lt;Text style={{ fontSize: 56, fontWeight: 'bold', color: '#0B1F3A', lineHeight: 1.2, fontFamily: 'Microsoft YaHei' }}&gt;&#10;                坑，与上手&#10;            &lt;/Text&gt;&#10;            &lt;Box style={{ width: 440, height: 3, background: '#F97316', borderRadius: 2, marginTop: 26 }} /&gt;&#10;            &lt;Text style={{ fontSize: 20, color: '#475569', lineHeight: 1.7, marginTop: 22, fontFamily: 'Microsoft YaHei' }}&gt;&#10;                六个坑都是花了时间才踩明白的；后面附上现在能直接用的上手路径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914400" y="1428750"/>
            <a:ext cx="1914525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>
                <a:solidFill>
                  <a:srgbClr val="BFDBFE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3286125" y="1590675"/>
            <a:ext cx="5905500" cy="7715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200" b="1">
                <a:solidFill>
                  <a:srgbClr val="0B1F3A"/>
                </a:solidFill>
                <a:latin typeface="Microsoft YaHei"/>
                <a:ea typeface="Microsoft YaHei"/>
              </a:rPr>
              <a:t>坑，与上手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3286125" y="2609850"/>
            <a:ext cx="4191000" cy="28575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3286125" y="2847975"/>
            <a:ext cx="5905500" cy="3905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500">
                <a:solidFill>
                  <a:srgbClr val="475569"/>
                </a:solidFill>
                <a:latin typeface="Microsoft YaHei"/>
                <a:ea typeface="Microsoft YaHei"/>
              </a:rPr>
              <a:t>六个坑都是花了时间才踩明白的；后面附上现在能直接用的上手路径。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29" name="" descr="&lt;Slide style={{ width: 1280, height: 720, background: '#FFFFFF', padding: 60, position: 'relative' }}&gt;&#10;    &lt;Box style={{ flexDirection: 'column' }}&gt;&#10;        &lt;Text style={{ fontSize: 14, color: '#94A3B8', letterSpacing: 1.6, fontFamily: 'Microsoft YaHei' }}&gt;&#10;            04 · 坑，与上手&#10;        &lt;/Text&gt;&#10;        &lt;Text style={{ fontSize: 34, fontWeight: 'bold', color: '#0B1F3A', lineHeight: 1.2, marginTop: 10, fontFamily: 'Microsoft YaHei' }}&gt;&#10;            六个坑，都是写完才明白的&#10;        &lt;/Text&gt;&#10;        &lt;Box style={{ width: '100%', height: 1, background: '#E2E8F0', marginTop: 18 }} /&gt;&#10;    &lt;/Box&gt;&#10;&#10;    &lt;Box style={{ position: 'absolute', left: 60, top: 176, width: 1160, height: 392, border: '1px solid #E2E8F0', borderRadius: 12, flexDirection: 'column' }}&gt;&#10;        &lt;Box style={{ height: 42, flexDirection: 'row', alignItems: 'center', background: '#F8FAFC', borderTopLeftRadius: 12, borderTopRightRadius: 12, paddingLeft: 24, paddingRight: 24 }}&gt;&#10;            &lt;Text style={{ fontSize: 14, color: '#64748B', width: 230, fontFamily: 'Microsoft YaHei' }}&gt;坑&lt;/Text&gt;&#10;            &lt;Text style={{ fontSize: 14, color: '#64748B', width: 430, fontFamily: 'Microsoft YaHei' }}&gt;现象&lt;/Text&gt;&#10;            &lt;Text style={{ fontSize: 14, color: '#64748B', width: 450, fontFamily: 'Microsoft YaHei' }}&gt;解法&lt;/Text&gt;&#10;        &lt;/Box&gt;&#10;        {[&#10;            ['长连接 3 秒超时', '飞书等不到响应就重推同一件事', '秒回 + 队列 + 按 message_id 去重'],&#10;            ['事件独占', '同一应用两个消费者，事件随机分给一个', '卡片回调和消息拆到两个应用'],&#10;            ['参数名不一样', '文档写 app_token，CLI 要 --base-token', 'wiki 链接先解包成真实 token 再查'],&#10;            ['插件沙箱', 'axios / sharp / moment 装了也用不了', '只用 context.fetch 和原生 API'],&#10;            ['拿不到 token', '发消息直接 401，日志里看不出原因', '声明 useTenantAccessToken: true'],&#10;            ['进程被回收', 'nohup 和后台起的进程活不长', '终端里 ./start.sh，别用 nohup'],&#10;        ].map((r, i) =&gt; (&#10;            &lt;Box key={i} style={{ height: 56, flexDirection: 'row', alignItems: 'center', borderBottom: '1px solid #EEF2F7', paddingLeft: 24, paddingRight: 24 }}&gt;&#10;                &lt;Text style={{ fontSize: 17, fontWeight: 'bold', color: '#0B1F3A', width: 230, fontFamily: 'Microsoft YaHei' }}&gt;{r[0]}&lt;/Text&gt;&#10;                &lt;Text style={{ fontSize: 16, color: '#475569', width: 430, fontFamily: 'Microsoft YaHei' }}&gt;{r[1]}&lt;/Text&gt;&#10;                &lt;Text style={{ fontSize: 16, color: '#334155', width: 450, fontFamily: 'Microsoft YaHei' }}&gt;{r[2]}&lt;/Text&gt;&#10;            &lt;/Box&gt;&#10;        ))}&#10;    &lt;/Box&gt;&#10;&#10;    {/* 底部结论 */}&#10;    &lt;Box style={{ position: 'absolute', left: 60, top: 592, width: 1160, flexDirection: 'row', alignItems: 'center', gap: 14 }}&gt;&#10;        &lt;Box style={{ width: 4, height: 22, background: '#F97316', borderRadius: 2 }} /&gt;&#10;        &lt;Text style={{ fontSize: 20, color: '#0B1F3A', lineHeight: 1.5, fontFamily: 'Microsoft YaHei' }}&gt;&#10;            六个里有一半不是 bug，是机制 —— &lt;span style={{ color: '#F97316', fontWeight: 'bold' }}&gt;先认清机制，再改代码&lt;/span&gt;&#10;        &lt;/Text&gt;&#10;    &lt;/Box&gt;&#10;&#10;    {/* 页脚 */}&#10;    &lt;Box style={{ position: 'absolute', left: 60, top: 670, width: 1160, flexDirection: 'row', justifyContent: 'space-between' }}&gt;&#10;        &lt;Text style={{ fontSize: 14, color: '#94A3B8', fontFamily: 'Microsoft YaHei' }}&gt;乌小河 · 技术分享&lt;/Text&gt;&#10;        &lt;Text style={{ fontSize: 14, color: '#94A3B8', fontFamily: 'Microsoft YaHei' }}&gt;15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20">
                <a:solidFill>
                  <a:srgbClr val="94A3B8"/>
                </a:solidFill>
                <a:latin typeface="Microsoft YaHei"/>
                <a:ea typeface="Microsoft YaHei"/>
              </a:rPr>
              <a:t xml:space="preserve">04 · </a:t>
            </a:r>
            <a:r>
              <a:rPr lang="zh-CN" sz="1050" spc="120">
                <a:solidFill>
                  <a:srgbClr val="94A3B8"/>
                </a:solidFill>
                <a:latin typeface="Microsoft YaHei"/>
                <a:ea typeface="Microsoft YaHei"/>
              </a:rPr>
              <a:t>坑，与上手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71500" y="828675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0B1F3A"/>
                </a:solidFill>
                <a:latin typeface="Microsoft YaHei"/>
                <a:ea typeface="Microsoft YaHei"/>
              </a:rPr>
              <a:t>六个坑，都是写完才明白的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571500" y="1466850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571500" y="1676400"/>
            <a:ext cx="11049000" cy="3733800"/>
          </a:xfrm>
          <a:prstGeom prst="roundRect">
            <a:avLst>
              <a:gd name="adj" fmla="val 3061"/>
            </a:avLst>
          </a:prstGeom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571500" y="1676400"/>
            <a:ext cx="11049000" cy="400050"/>
          </a:xfrm>
          <a:custGeom>
            <a:pathLst>
              <a:path w="1160" h="42">
                <a:moveTo>
                  <a:pt x="12" y="0"/>
                </a:moveTo>
                <a:lnTo>
                  <a:pt x="1148" y="0"/>
                </a:lnTo>
                <a:cubicBezTo>
                  <a:pt x="1155" y="0"/>
                  <a:pt x="1160" y="5"/>
                  <a:pt x="1160" y="12"/>
                </a:cubicBezTo>
                <a:lnTo>
                  <a:pt x="1160" y="42"/>
                </a:lnTo>
                <a:lnTo>
                  <a:pt x="1160" y="42"/>
                </a:lnTo>
                <a:lnTo>
                  <a:pt x="0" y="42"/>
                </a:lnTo>
                <a:lnTo>
                  <a:pt x="0" y="42"/>
                </a:ln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F8FAFC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00100" y="1800225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坑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2990850" y="1800225"/>
            <a:ext cx="409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现象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086600" y="1800225"/>
            <a:ext cx="428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解法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571500" y="2076450"/>
            <a:ext cx="11049000" cy="533400"/>
          </a:xfrm>
          <a:custGeom>
            <a:pathLst>
              <a:path w="1160" h="56">
                <a:moveTo>
                  <a:pt x="0" y="55"/>
                </a:moveTo>
                <a:lnTo>
                  <a:pt x="1160" y="55"/>
                </a:lnTo>
                <a:lnTo>
                  <a:pt x="1160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EF2F7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00100" y="2238375"/>
            <a:ext cx="2190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1F3A"/>
                </a:solidFill>
                <a:latin typeface="Microsoft YaHei"/>
                <a:ea typeface="Microsoft YaHei"/>
              </a:rPr>
              <a:t>长连接</a:t>
            </a:r>
            <a:r>
              <a:rPr lang="en-US" sz="1275" b="1">
                <a:solidFill>
                  <a:srgbClr val="0B1F3A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75" b="1">
                <a:solidFill>
                  <a:srgbClr val="0B1F3A"/>
                </a:solidFill>
                <a:latin typeface="Microsoft YaHei"/>
                <a:ea typeface="Microsoft YaHei"/>
              </a:rPr>
              <a:t>秒超时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2990850" y="2247900"/>
            <a:ext cx="409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飞书等不到响应就重推同一件事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7086600" y="2247900"/>
            <a:ext cx="4286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秒回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队列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按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 xml:space="preserve"> message_id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去重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571500" y="2609850"/>
            <a:ext cx="11049000" cy="533400"/>
          </a:xfrm>
          <a:custGeom>
            <a:pathLst>
              <a:path w="1160" h="56">
                <a:moveTo>
                  <a:pt x="0" y="55"/>
                </a:moveTo>
                <a:lnTo>
                  <a:pt x="1160" y="55"/>
                </a:lnTo>
                <a:lnTo>
                  <a:pt x="1160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EF2F7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00100" y="2771775"/>
            <a:ext cx="2190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1F3A"/>
                </a:solidFill>
                <a:latin typeface="Microsoft YaHei"/>
                <a:ea typeface="Microsoft YaHei"/>
              </a:rPr>
              <a:t>事件独占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2990850" y="2781300"/>
            <a:ext cx="409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同一应用两个消费者，事件随机分给一个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086600" y="2781300"/>
            <a:ext cx="4286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卡片回调和消息拆到两个应用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571500" y="3143250"/>
            <a:ext cx="11049000" cy="533400"/>
          </a:xfrm>
          <a:custGeom>
            <a:pathLst>
              <a:path w="1160" h="56">
                <a:moveTo>
                  <a:pt x="0" y="55"/>
                </a:moveTo>
                <a:lnTo>
                  <a:pt x="1160" y="55"/>
                </a:lnTo>
                <a:lnTo>
                  <a:pt x="1160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EF2F7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800100" y="3305175"/>
            <a:ext cx="2190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1F3A"/>
                </a:solidFill>
                <a:latin typeface="Microsoft YaHei"/>
                <a:ea typeface="Microsoft YaHei"/>
              </a:rPr>
              <a:t>参数名不一样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2990850" y="3314700"/>
            <a:ext cx="409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文档写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app_token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CLI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要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--base-token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086600" y="3314700"/>
            <a:ext cx="4286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 xml:space="preserve">wiki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链接先解包成真实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再查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571500" y="3676650"/>
            <a:ext cx="11049000" cy="533400"/>
          </a:xfrm>
          <a:custGeom>
            <a:pathLst>
              <a:path w="1160" h="56">
                <a:moveTo>
                  <a:pt x="0" y="55"/>
                </a:moveTo>
                <a:lnTo>
                  <a:pt x="1160" y="55"/>
                </a:lnTo>
                <a:lnTo>
                  <a:pt x="1160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EF2F7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00100" y="3838575"/>
            <a:ext cx="2190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1F3A"/>
                </a:solidFill>
                <a:latin typeface="Microsoft YaHei"/>
                <a:ea typeface="Microsoft YaHei"/>
              </a:rPr>
              <a:t>插件沙箱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2990850" y="3848100"/>
            <a:ext cx="409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axios / sharp / moment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装了也用不了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086600" y="3848100"/>
            <a:ext cx="4286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只用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 xml:space="preserve"> context.fetch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和原生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 xml:space="preserve"> API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571500" y="4210050"/>
            <a:ext cx="11049000" cy="533400"/>
          </a:xfrm>
          <a:custGeom>
            <a:pathLst>
              <a:path w="1160" h="56">
                <a:moveTo>
                  <a:pt x="0" y="55"/>
                </a:moveTo>
                <a:lnTo>
                  <a:pt x="1160" y="55"/>
                </a:lnTo>
                <a:lnTo>
                  <a:pt x="1160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EF2F7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00100" y="4371975"/>
            <a:ext cx="2190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1F3A"/>
                </a:solidFill>
                <a:latin typeface="Microsoft YaHei"/>
                <a:ea typeface="Microsoft YaHei"/>
              </a:rPr>
              <a:t>拿不到</a:t>
            </a:r>
            <a:r>
              <a:rPr lang="en-US" sz="1275" b="1">
                <a:solidFill>
                  <a:srgbClr val="0B1F3A"/>
                </a:solidFill>
                <a:latin typeface="Microsoft YaHei"/>
                <a:ea typeface="Microsoft YaHei"/>
              </a:rPr>
              <a:t xml:space="preserve"> token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2990850" y="4381500"/>
            <a:ext cx="409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发消息直接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401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，日志里看不出原因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7086600" y="4381500"/>
            <a:ext cx="4286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声明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 xml:space="preserve"> useTenantAccessToken: true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571500" y="4743450"/>
            <a:ext cx="11049000" cy="533400"/>
          </a:xfrm>
          <a:custGeom>
            <a:pathLst>
              <a:path w="1160" h="56">
                <a:moveTo>
                  <a:pt x="0" y="55"/>
                </a:moveTo>
                <a:lnTo>
                  <a:pt x="1160" y="55"/>
                </a:lnTo>
                <a:lnTo>
                  <a:pt x="1160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EF2F7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00100" y="4905375"/>
            <a:ext cx="2190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1F3A"/>
                </a:solidFill>
                <a:latin typeface="Microsoft YaHei"/>
                <a:ea typeface="Microsoft YaHei"/>
              </a:rPr>
              <a:t>进程被回收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2990850" y="4914900"/>
            <a:ext cx="409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nohup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和后台起的进程活不长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7086600" y="4914900"/>
            <a:ext cx="4286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终端里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 xml:space="preserve"> ./start.sh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，别用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 xml:space="preserve"> nohup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571500" y="5705475"/>
            <a:ext cx="38100" cy="2095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742950" y="5638800"/>
            <a:ext cx="5057775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0B1F3A"/>
                </a:solidFill>
                <a:latin typeface="Microsoft YaHei"/>
                <a:ea typeface="Microsoft YaHei"/>
              </a:rPr>
              <a:t>六个里有一半不是</a:t>
            </a:r>
            <a:r>
              <a:rPr lang="en-US" sz="1500">
                <a:solidFill>
                  <a:srgbClr val="0B1F3A"/>
                </a:solidFill>
                <a:latin typeface="Microsoft YaHei"/>
                <a:ea typeface="Microsoft YaHei"/>
              </a:rPr>
              <a:t xml:space="preserve"> bug</a:t>
            </a:r>
            <a:r>
              <a:rPr lang="zh-CN" sz="1500">
                <a:solidFill>
                  <a:srgbClr val="0B1F3A"/>
                </a:solidFill>
                <a:latin typeface="Microsoft YaHei"/>
                <a:ea typeface="Microsoft YaHei"/>
              </a:rPr>
              <a:t>，是机制</a:t>
            </a:r>
            <a:r>
              <a:rPr lang="en-US" sz="1500">
                <a:solidFill>
                  <a:srgbClr val="0B1F3A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 b="1">
                <a:solidFill>
                  <a:srgbClr val="F97316"/>
                </a:solidFill>
                <a:latin typeface="Microsoft YaHei"/>
                <a:ea typeface="Microsoft YaHei"/>
              </a:rPr>
              <a:t>先认清机制，再改代码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乌小河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技术分享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1210925" y="63817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15 / 18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67" name="" descr="&lt;Slide style={{ width: 1280, height: 720, background: '#FFFFFF', padding: 60, position: 'relative' }}&gt;&#10;    &lt;Box style={{ flexDirection: 'column' }}&gt;&#10;        &lt;Text style={{ fontSize: 14, color: '#94A3B8', letterSpacing: 1.6, fontFamily: 'Microsoft YaHei' }}&gt;&#10;            04 · 坑，与上手&#10;        &lt;/Text&gt;&#10;        &lt;Text style={{ fontSize: 34, fontWeight: 'bold', color: '#0B1F3A', lineHeight: 1.2, marginTop: 10, fontFamily: 'Microsoft YaHei' }}&gt;&#10;            同事要上手，就三步&#10;        &lt;/Text&gt;&#10;        &lt;Box style={{ width: '100%', height: 1, background: '#E2E8F0', marginTop: 18 }} /&gt;&#10;    &lt;/Box&gt;&#10;&#10;    {/* 左侧色块 */}&#10;    &lt;Box style={{ position: 'absolute', left: 60, top: 176, width: 360, height: 467, background: '#1D4ED8', borderRadius: 12, padding: 26, flexDirection: 'column' }}&gt;&#10;        &lt;Text style={{ fontSize: 14, color: '#BFD3FF', letterSpacing: 1.6, fontFamily: 'Microsoft YaHei' }}&gt;GET STARTED&lt;/Text&gt;&#10;        &lt;Text style={{ fontSize: 28, fontWeight: 'bold', color: '#FFFFFF', lineHeight: 1.2, marginTop: 10, fontFamily: 'Microsoft YaHei' }}&gt;上手三步&lt;/Text&gt;&#10;        &lt;Box style={{ flexDirection: 'column', gap: 18, marginTop: 22 }}&gt;&#10;            {[&#10;                { no: '01', name: '先认门', desc: '私聊它，或者把它拉进群，发一句 /help' },&#10;                { no: '02', name: '再干活', desc: '发视频，紧接着发 /upmedia 67' },&#10;                { no: '03', name: '接流程', desc: '表格里建自动化，动作选「发送飞书消息」' },&#10;            ].map((st, i) =&gt; (&#10;                &lt;Box key={i} style={{ flexDirection: 'row', gap: 10 }}&gt;&#10;                    &lt;Text style={{ fontSize: 14, color: '#8FB2F5', fontFamily: 'Consolas', marginTop: 4 }}&gt;{st.no}&lt;/Text&gt;&#10;                    &lt;Box style={{ flexDirection: 'column', width: 262 }}&gt;&#10;                        &lt;Text style={{ fontSize: 18, fontWeight: 'bold', color: '#FFFFFF', fontFamily: 'Microsoft YaHei' }}&gt;{st.name}&lt;/Text&gt;&#10;                        &lt;Text style={{ fontSize: 15, color: '#DBEAFE', lineHeight: 1.6, marginTop: 3, fontFamily: 'Microsoft YaHei' }}&gt;{st.desc}&lt;/Text&gt;&#10;                    &lt;/Box&gt;&#10;                &lt;/Box&gt;&#10;            ))}&#10;        &lt;/Box&gt;&#10;        &lt;Box style={{ flex: 1 }} /&gt;&#10;        &lt;Box style={{ width: '100%', height: 1, background: 'rgba(255,255,255,0.25)' }} /&gt;&#10;        &lt;Text style={{ fontSize: 14, color: '#BFD3FF', lineHeight: 1.6, marginTop: 12, fontFamily: 'Microsoft YaHei' }}&gt;&#10;            命令只是把文字填进输入框，它收到的还是普通消息 —— 所以能补半句话。&#10;        &lt;/Text&gt;&#10;    &lt;/Box&gt;&#10;&#10;    {/* 右侧命令清单 */}&#10;    &lt;Box style={{ position: 'absolute', left: 460, top: 176, width: 760, flexDirection: 'column' }}&gt;&#10;        &lt;Box style={{ flexDirection: 'row', paddingBottom: 10, borderBottom: '1px solid #CBD5E1' }}&gt;&#10;            &lt;Text style={{ fontSize: 14, color: '#94A3B8', letterSpacing: 1, width: 210, fontFamily: 'Microsoft YaHei' }}&gt;命令&lt;/Text&gt;&#10;            &lt;Text style={{ fontSize: 14, color: '#94A3B8', letterSpacing: 1, fontFamily: 'Microsoft YaHei' }}&gt;作用&lt;/Text&gt;&#10;        &lt;/Box&gt;&#10;        {[&#10;            ['/upmedia 名字', '把最新一条视频传到分秒帧，落盘就叫这个名字'],&#10;            ['/driveup 名字', '传云盘收件夹里的某一个文件'],&#10;            ['/drive', '扫一遍云盘收件夹；带链接就换收件夹'],&#10;            ['/base …', '改多维表格字段：集数 + 字段 + 值'],&#10;            ['/tbpz', '分秒帧批注同步到表格；加「预览」只读'],&#10;            ['/target', '看当前上传目标，带链接就换目标'],&#10;            ['/help', '发一张能力卡片，正文现读，改完不用重启'],&#10;        ].map(([cmd, desc], i) =&gt; (&#10;            &lt;Box key={i} style={{ flexDirection: 'row', alignItems: 'center', height: 62, borderBottom: '1px solid #EEF2F7' }}&gt;&#10;                &lt;Text style={{ fontSize: 17, fontWeight: 'bold', color: '#1D4ED8', width: 210, fontFamily: 'Consolas' }}&gt;{cmd}&lt;/Text&gt;&#10;                &lt;Text style={{ fontSize: 16, color: '#334155', fontFamily: 'Microsoft YaHei' }}&gt;{desc}&lt;/Text&gt;&#10;            &lt;/Box&gt;&#10;        ))}&#10;    &lt;/Box&gt;&#10;&#10;    {/* 页脚 */}&#10;    &lt;Box style={{ position: 'absolute', left: 60, top: 670, width: 1160, flexDirection: 'row', justifyContent: 'space-between' }}&gt;&#10;        &lt;Text style={{ fontSize: 14, color: '#94A3B8', fontFamily: 'Microsoft YaHei' }}&gt;乌小河 · 技术分享&lt;/Text&gt;&#10;        &lt;Text style={{ fontSize: 14, color: '#94A3B8', fontFamily: 'Microsoft YaHei' }}&gt;16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20">
                <a:solidFill>
                  <a:srgbClr val="94A3B8"/>
                </a:solidFill>
                <a:latin typeface="Microsoft YaHei"/>
                <a:ea typeface="Microsoft YaHei"/>
              </a:rPr>
              <a:t xml:space="preserve">04 · </a:t>
            </a:r>
            <a:r>
              <a:rPr lang="zh-CN" sz="1050" spc="120">
                <a:solidFill>
                  <a:srgbClr val="94A3B8"/>
                </a:solidFill>
                <a:latin typeface="Microsoft YaHei"/>
                <a:ea typeface="Microsoft YaHei"/>
              </a:rPr>
              <a:t>坑，与上手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71500" y="828675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0B1F3A"/>
                </a:solidFill>
                <a:latin typeface="Microsoft YaHei"/>
                <a:ea typeface="Microsoft YaHei"/>
              </a:rPr>
              <a:t>同事要上手，就三步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571500" y="1466850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571500" y="1676400"/>
            <a:ext cx="3429000" cy="4448175"/>
          </a:xfrm>
          <a:prstGeom prst="roundRect">
            <a:avLst>
              <a:gd name="adj" fmla="val 3333"/>
            </a:avLst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19150" y="192405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20">
                <a:solidFill>
                  <a:srgbClr val="BFD3FF"/>
                </a:solidFill>
                <a:latin typeface="Microsoft YaHei"/>
                <a:ea typeface="Microsoft YaHei"/>
              </a:rPr>
              <a:t>GET STARTED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19150" y="2181225"/>
            <a:ext cx="2933700" cy="3905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上手三步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19150" y="2819400"/>
            <a:ext cx="152400" cy="476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B2F5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066800" y="2781300"/>
            <a:ext cx="2495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先认门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066800" y="3019425"/>
            <a:ext cx="24955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DBEAFE"/>
                </a:solidFill>
                <a:latin typeface="Microsoft YaHei"/>
                <a:ea typeface="Microsoft YaHei"/>
              </a:rPr>
              <a:t>私聊它，或者把它拉进群，发一句</a:t>
            </a:r>
            <a:r>
              <a:rPr lang="en-US" sz="1125">
                <a:solidFill>
                  <a:srgbClr val="DBEAFE"/>
                </a:solidFill>
                <a:latin typeface="Microsoft YaHei"/>
                <a:ea typeface="Microsoft YaHei"/>
              </a:rPr>
              <a:t xml:space="preserve"> /help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19150" y="3505200"/>
            <a:ext cx="152400" cy="476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B2F5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066800" y="3467100"/>
            <a:ext cx="2495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再干活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066800" y="3705225"/>
            <a:ext cx="24955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DBEAFE"/>
                </a:solidFill>
                <a:latin typeface="Microsoft YaHei"/>
                <a:ea typeface="Microsoft YaHei"/>
              </a:rPr>
              <a:t>发视频，紧接着发</a:t>
            </a:r>
            <a:r>
              <a:rPr lang="en-US" sz="1125">
                <a:solidFill>
                  <a:srgbClr val="DBEAFE"/>
                </a:solidFill>
                <a:latin typeface="Microsoft YaHei"/>
                <a:ea typeface="Microsoft YaHei"/>
              </a:rPr>
              <a:t xml:space="preserve"> /upmedia 67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19150" y="4191000"/>
            <a:ext cx="152400" cy="752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B2F5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066800" y="4152900"/>
            <a:ext cx="2495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接流程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066800" y="4391025"/>
            <a:ext cx="24955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DBEAFE"/>
                </a:solidFill>
                <a:latin typeface="Microsoft YaHei"/>
                <a:ea typeface="Microsoft YaHei"/>
              </a:rPr>
              <a:t>表格里建自动化，动作选「发送飞书消息」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819150" y="5238750"/>
            <a:ext cx="29337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19150" y="5362575"/>
            <a:ext cx="2933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BFD3FF"/>
                </a:solidFill>
                <a:latin typeface="Microsoft YaHei"/>
                <a:ea typeface="Microsoft YaHei"/>
              </a:rPr>
              <a:t>命令只是把文字填进输入框，它收到的还是普通消息</a:t>
            </a:r>
            <a:r>
              <a:rPr lang="en-US" sz="1050">
                <a:solidFill>
                  <a:srgbClr val="BFD3FF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BFD3FF"/>
                </a:solidFill>
                <a:latin typeface="Microsoft YaHei"/>
                <a:ea typeface="Microsoft YaHei"/>
              </a:rPr>
              <a:t>所以能补半句话。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4381500" y="1676400"/>
            <a:ext cx="7239000" cy="276225"/>
          </a:xfrm>
          <a:custGeom>
            <a:pathLst>
              <a:path w="760" h="29">
                <a:moveTo>
                  <a:pt x="0" y="28"/>
                </a:moveTo>
                <a:lnTo>
                  <a:pt x="760" y="28"/>
                </a:lnTo>
                <a:lnTo>
                  <a:pt x="760" y="29"/>
                </a:lnTo>
                <a:lnTo>
                  <a:pt x="0" y="29"/>
                </a:lnTo>
                <a:close/>
              </a:path>
            </a:pathLst>
          </a:custGeom>
          <a:solidFill>
            <a:srgbClr val="CBD5E1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4381500" y="167640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94A3B8"/>
                </a:solidFill>
                <a:latin typeface="Microsoft YaHei"/>
                <a:ea typeface="Microsoft YaHei"/>
              </a:rPr>
              <a:t>命令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381750" y="16764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94A3B8"/>
                </a:solidFill>
                <a:latin typeface="Microsoft YaHei"/>
                <a:ea typeface="Microsoft YaHei"/>
              </a:rPr>
              <a:t>作用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4381500" y="1943100"/>
            <a:ext cx="7239000" cy="590550"/>
          </a:xfrm>
          <a:custGeom>
            <a:pathLst>
              <a:path w="760" h="62">
                <a:moveTo>
                  <a:pt x="0" y="61"/>
                </a:moveTo>
                <a:lnTo>
                  <a:pt x="760" y="61"/>
                </a:lnTo>
                <a:lnTo>
                  <a:pt x="760" y="62"/>
                </a:lnTo>
                <a:lnTo>
                  <a:pt x="0" y="62"/>
                </a:lnTo>
                <a:close/>
              </a:path>
            </a:pathLst>
          </a:custGeom>
          <a:solidFill>
            <a:srgbClr val="EEF2F7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381500" y="2133600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D4ED8"/>
                </a:solidFill>
                <a:latin typeface="Consolas"/>
                <a:ea typeface="Consolas"/>
              </a:rPr>
              <a:t xml:space="preserve">/upmedia </a:t>
            </a:r>
            <a:r>
              <a:rPr lang="zh-CN" sz="1275" b="1">
                <a:solidFill>
                  <a:srgbClr val="1D4ED8"/>
                </a:solidFill>
                <a:latin typeface="Consolas"/>
                <a:ea typeface="Consolas"/>
              </a:rPr>
              <a:t>名字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381750" y="2143125"/>
            <a:ext cx="320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把最新一条视频传到分秒帧，落盘就叫这个名字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4381500" y="2533650"/>
            <a:ext cx="7239000" cy="590550"/>
          </a:xfrm>
          <a:custGeom>
            <a:pathLst>
              <a:path w="760" h="62">
                <a:moveTo>
                  <a:pt x="0" y="61"/>
                </a:moveTo>
                <a:lnTo>
                  <a:pt x="760" y="61"/>
                </a:lnTo>
                <a:lnTo>
                  <a:pt x="760" y="62"/>
                </a:lnTo>
                <a:lnTo>
                  <a:pt x="0" y="62"/>
                </a:lnTo>
                <a:close/>
              </a:path>
            </a:pathLst>
          </a:custGeom>
          <a:solidFill>
            <a:srgbClr val="EEF2F7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4381500" y="2724150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D4ED8"/>
                </a:solidFill>
                <a:latin typeface="Consolas"/>
                <a:ea typeface="Consolas"/>
              </a:rPr>
              <a:t xml:space="preserve">/driveup </a:t>
            </a:r>
            <a:r>
              <a:rPr lang="zh-CN" sz="1275" b="1">
                <a:solidFill>
                  <a:srgbClr val="1D4ED8"/>
                </a:solidFill>
                <a:latin typeface="Consolas"/>
                <a:ea typeface="Consolas"/>
              </a:rPr>
              <a:t>名字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381750" y="2733675"/>
            <a:ext cx="198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传云盘收件夹里的某一个文件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4381500" y="3124200"/>
            <a:ext cx="7239000" cy="590550"/>
          </a:xfrm>
          <a:custGeom>
            <a:pathLst>
              <a:path w="760" h="62">
                <a:moveTo>
                  <a:pt x="0" y="61"/>
                </a:moveTo>
                <a:lnTo>
                  <a:pt x="760" y="61"/>
                </a:lnTo>
                <a:lnTo>
                  <a:pt x="760" y="62"/>
                </a:lnTo>
                <a:lnTo>
                  <a:pt x="0" y="62"/>
                </a:lnTo>
                <a:close/>
              </a:path>
            </a:pathLst>
          </a:custGeom>
          <a:solidFill>
            <a:srgbClr val="EEF2F7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381500" y="3314700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D4ED8"/>
                </a:solidFill>
                <a:latin typeface="Consolas"/>
                <a:ea typeface="Consolas"/>
              </a:rPr>
              <a:t>/drive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381750" y="3324225"/>
            <a:ext cx="2590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扫一遍云盘收件夹；带链接就换收件夹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4381500" y="3714750"/>
            <a:ext cx="7239000" cy="590550"/>
          </a:xfrm>
          <a:custGeom>
            <a:pathLst>
              <a:path w="760" h="62">
                <a:moveTo>
                  <a:pt x="0" y="61"/>
                </a:moveTo>
                <a:lnTo>
                  <a:pt x="760" y="61"/>
                </a:lnTo>
                <a:lnTo>
                  <a:pt x="760" y="62"/>
                </a:lnTo>
                <a:lnTo>
                  <a:pt x="0" y="62"/>
                </a:lnTo>
                <a:close/>
              </a:path>
            </a:pathLst>
          </a:custGeom>
          <a:solidFill>
            <a:srgbClr val="EEF2F7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4381500" y="3905250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D4ED8"/>
                </a:solidFill>
                <a:latin typeface="Consolas"/>
                <a:ea typeface="Consolas"/>
              </a:rPr>
              <a:t>/base …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381750" y="3914775"/>
            <a:ext cx="2333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改多维表格字段：集数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字段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值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4381500" y="4305300"/>
            <a:ext cx="7239000" cy="590550"/>
          </a:xfrm>
          <a:custGeom>
            <a:pathLst>
              <a:path w="760" h="62">
                <a:moveTo>
                  <a:pt x="0" y="61"/>
                </a:moveTo>
                <a:lnTo>
                  <a:pt x="760" y="61"/>
                </a:lnTo>
                <a:lnTo>
                  <a:pt x="760" y="62"/>
                </a:lnTo>
                <a:lnTo>
                  <a:pt x="0" y="62"/>
                </a:lnTo>
                <a:close/>
              </a:path>
            </a:pathLst>
          </a:custGeom>
          <a:solidFill>
            <a:srgbClr val="EEF2F7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4381500" y="4495800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D4ED8"/>
                </a:solidFill>
                <a:latin typeface="Consolas"/>
                <a:ea typeface="Consolas"/>
              </a:rPr>
              <a:t>/tbpz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381750" y="4505325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分秒帧批注同步到表格；加「预览」只读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4381500" y="4895850"/>
            <a:ext cx="7239000" cy="590550"/>
          </a:xfrm>
          <a:custGeom>
            <a:pathLst>
              <a:path w="760" h="62">
                <a:moveTo>
                  <a:pt x="0" y="61"/>
                </a:moveTo>
                <a:lnTo>
                  <a:pt x="760" y="61"/>
                </a:lnTo>
                <a:lnTo>
                  <a:pt x="760" y="62"/>
                </a:lnTo>
                <a:lnTo>
                  <a:pt x="0" y="62"/>
                </a:lnTo>
                <a:close/>
              </a:path>
            </a:pathLst>
          </a:custGeom>
          <a:solidFill>
            <a:srgbClr val="EEF2F7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381500" y="5086350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D4ED8"/>
                </a:solidFill>
                <a:latin typeface="Consolas"/>
                <a:ea typeface="Consolas"/>
              </a:rPr>
              <a:t>/target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381750" y="5095875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看当前上传目标，带链接就换目标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4381500" y="5486400"/>
            <a:ext cx="7239000" cy="590550"/>
          </a:xfrm>
          <a:custGeom>
            <a:pathLst>
              <a:path w="760" h="62">
                <a:moveTo>
                  <a:pt x="0" y="61"/>
                </a:moveTo>
                <a:lnTo>
                  <a:pt x="760" y="61"/>
                </a:lnTo>
                <a:lnTo>
                  <a:pt x="760" y="62"/>
                </a:lnTo>
                <a:lnTo>
                  <a:pt x="0" y="62"/>
                </a:lnTo>
                <a:close/>
              </a:path>
            </a:pathLst>
          </a:custGeom>
          <a:solidFill>
            <a:srgbClr val="EEF2F7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4381500" y="5676900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D4ED8"/>
                </a:solidFill>
                <a:latin typeface="Consolas"/>
                <a:ea typeface="Consolas"/>
              </a:rPr>
              <a:t>/help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381750" y="5686425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发一张能力卡片，正文现读，改完不用重启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乌小河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技术分享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1210925" y="63817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16 / 18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20">
                <a:solidFill>
                  <a:srgbClr val="94A3B8"/>
                </a:solidFill>
                <a:latin typeface="Microsoft YaHei"/>
                <a:ea typeface="Microsoft YaHei"/>
              </a:rPr>
              <a:t xml:space="preserve">04 · </a:t>
            </a:r>
            <a:r>
              <a:rPr lang="zh-CN" sz="1050" spc="120">
                <a:solidFill>
                  <a:srgbClr val="94A3B8"/>
                </a:solidFill>
                <a:latin typeface="Microsoft YaHei"/>
                <a:ea typeface="Microsoft YaHei"/>
              </a:rPr>
              <a:t>坑，与上手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571500" y="828675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0B1F3A"/>
                </a:solidFill>
                <a:latin typeface="Microsoft YaHei"/>
                <a:ea typeface="Microsoft YaHei"/>
              </a:rPr>
              <a:t>四条边界绕不过去，先知道再动手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571500" y="1466850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096000" y="1676400"/>
            <a:ext cx="9525" cy="371475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571500" y="3543300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71500" y="1676400"/>
            <a:ext cx="5295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1F3A"/>
                </a:solidFill>
                <a:latin typeface="Microsoft YaHei"/>
                <a:ea typeface="Microsoft YaHei"/>
              </a:rPr>
              <a:t>主机在不在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71500" y="2028825"/>
            <a:ext cx="52959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合盖休眠，长连接就断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在不在线取决于这台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Mac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71500" y="25050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97316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914400" y="2476500"/>
            <a:ext cx="4381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</a:rPr>
              <a:t>要</a:t>
            </a:r>
            <a:r>
              <a:rPr lang="en-US" sz="1200">
                <a:solidFill>
                  <a:srgbClr val="0B1F3A"/>
                </a:solidFill>
                <a:latin typeface="Microsoft YaHei"/>
                <a:ea typeface="Microsoft YaHei"/>
              </a:rPr>
              <a:t xml:space="preserve"> 7×24</a:t>
            </a:r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</a:rPr>
              <a:t>，就把核心逻辑搬到云函数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324600" y="1676400"/>
            <a:ext cx="5295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1F3A"/>
                </a:solidFill>
                <a:latin typeface="Microsoft YaHei"/>
                <a:ea typeface="Microsoft YaHei"/>
              </a:rPr>
              <a:t>单文件</a:t>
            </a:r>
            <a:r>
              <a:rPr lang="en-US" sz="1650" b="1">
                <a:solidFill>
                  <a:srgbClr val="0B1F3A"/>
                </a:solidFill>
                <a:latin typeface="Microsoft YaHei"/>
                <a:ea typeface="Microsoft YaHei"/>
              </a:rPr>
              <a:t xml:space="preserve"> 100 MB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324600" y="2028825"/>
            <a:ext cx="52959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飞书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messageResource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的硬上限，超了根本下不下来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324600" y="25050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97316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667500" y="2476500"/>
            <a:ext cx="4381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</a:rPr>
              <a:t>更大的先压缩或分卷，再传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71500" y="3771900"/>
            <a:ext cx="5295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1F3A"/>
                </a:solidFill>
                <a:latin typeface="Microsoft YaHei"/>
                <a:ea typeface="Microsoft YaHei"/>
              </a:rPr>
              <a:t>平台登录态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571500" y="4124325"/>
            <a:ext cx="52959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分秒帧没有上传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API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，只能驱动本机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Chrome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跑网页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571500" y="46005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97316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914400" y="4572000"/>
            <a:ext cx="4381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</a:rPr>
              <a:t>登录过期就传不了，得手动重登一次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324600" y="3771900"/>
            <a:ext cx="5295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1F3A"/>
                </a:solidFill>
                <a:latin typeface="Microsoft YaHei"/>
                <a:ea typeface="Microsoft YaHei"/>
              </a:rPr>
              <a:t>事件独占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324600" y="4124325"/>
            <a:ext cx="52959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同一应用只能有一个稳定消费者，消息和回调会抢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324600" y="46005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97316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667500" y="4572000"/>
            <a:ext cx="4381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</a:rPr>
              <a:t>卡在回调，就再建一个应用专管回调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571500" y="5695950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D4ED8"/>
                </a:solidFill>
                <a:latin typeface="Microsoft YaHei"/>
                <a:ea typeface="Microsoft YaHei"/>
              </a:rPr>
              <a:t>下一步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1447800" y="5695950"/>
            <a:ext cx="9525" cy="17145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>
            <a:pPr/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1609725" y="5695950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97316"/>
                </a:solidFill>
                <a:latin typeface="Consolas"/>
                <a:ea typeface="Consolas"/>
              </a:rPr>
              <a:t>0</a:t>
            </a:r>
            <a:r>
              <a:rPr lang="en-US" sz="1050">
                <a:solidFill>
                  <a:srgbClr val="F97316"/>
                </a:solidFill>
                <a:latin typeface="Consolas"/>
                <a:ea typeface="Consolas"/>
              </a:rPr>
              <a:t>1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819275" y="5676900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卡片回调拆到独立应用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3762375" y="5695950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97316"/>
                </a:solidFill>
                <a:latin typeface="Consolas"/>
                <a:ea typeface="Consolas"/>
              </a:rPr>
              <a:t>0</a:t>
            </a:r>
            <a:r>
              <a:rPr lang="en-US" sz="1050">
                <a:solidFill>
                  <a:srgbClr val="F97316"/>
                </a:solidFill>
                <a:latin typeface="Consolas"/>
                <a:ea typeface="Consolas"/>
              </a:rPr>
              <a:t>2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3971925" y="5676900"/>
            <a:ext cx="2781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用分秒帧开放平台</a:t>
            </a:r>
            <a:r>
              <a:rPr lang="en-US" sz="1275">
                <a:solidFill>
                  <a:srgbClr val="334155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替换网页自动化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077075" y="5695950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97316"/>
                </a:solidFill>
                <a:latin typeface="Consolas"/>
                <a:ea typeface="Consolas"/>
              </a:rPr>
              <a:t>0</a:t>
            </a:r>
            <a:r>
              <a:rPr lang="en-US" sz="1050">
                <a:solidFill>
                  <a:srgbClr val="F97316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7286625" y="5676900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34155"/>
                </a:solidFill>
                <a:latin typeface="Microsoft YaHei"/>
                <a:ea typeface="Microsoft YaHei"/>
              </a:rPr>
              <a:t>加队列、重试、失败告警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乌小河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技术分享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1210925" y="63817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17 / 18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p>
            <a:pPr/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80">
                <a:solidFill>
                  <a:srgbClr val="8FA3BD"/>
                </a:solidFill>
                <a:latin typeface="Microsoft YaHei"/>
                <a:ea typeface="Microsoft YaHei"/>
              </a:rPr>
              <a:t>乌小河</a:t>
            </a:r>
            <a:r>
              <a:rPr lang="en-US" sz="1050" spc="180">
                <a:solidFill>
                  <a:srgbClr val="8FA3B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spc="180">
                <a:solidFill>
                  <a:srgbClr val="8FA3BD"/>
                </a:solidFill>
                <a:latin typeface="Microsoft YaHei"/>
                <a:ea typeface="Microsoft YaHei"/>
              </a:rPr>
              <a:t>内部技术分享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p>
            <a:pPr/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8572500" y="1143000"/>
            <a:ext cx="304800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8572500" y="1314450"/>
            <a:ext cx="228600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8572500" y="1485900"/>
            <a:ext cx="152400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571500" y="2381250"/>
            <a:ext cx="9525000" cy="1485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它不需要聪明，</a:t>
            </a:r>
            <a:endParaRPr/>
          </a:p>
          <a:p>
            <a:pPr>
              <a:lnSpc>
                <a:spcPct val="135000"/>
              </a:lnSpc>
            </a:pPr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只需要每次都不漏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571500" y="4133850"/>
            <a:ext cx="9525000" cy="3905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500">
                <a:solidFill>
                  <a:srgbClr val="BFD3FF"/>
                </a:solidFill>
                <a:latin typeface="Microsoft YaHei"/>
                <a:ea typeface="Microsoft YaHei"/>
              </a:rPr>
              <a:t>多维表格负责记住，机器人负责跑腿</a:t>
            </a:r>
            <a:r>
              <a:rPr lang="en-US" sz="1500">
                <a:solidFill>
                  <a:srgbClr val="BFD3FF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BFD3FF"/>
                </a:solidFill>
                <a:latin typeface="Microsoft YaHei"/>
                <a:ea typeface="Microsoft YaHei"/>
              </a:rPr>
              <a:t>剩下的判断，还是人的事。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571500" y="4848225"/>
            <a:ext cx="533400" cy="38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571500" y="5657850"/>
            <a:ext cx="2419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3BD"/>
                </a:solidFill>
                <a:latin typeface="Microsoft YaHei"/>
                <a:ea typeface="Microsoft YaHei"/>
              </a:rPr>
              <a:t>分享人</a:t>
            </a:r>
            <a:r>
              <a:rPr lang="en-US" sz="1125">
                <a:solidFill>
                  <a:srgbClr val="8FA3B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8FA3BD"/>
                </a:solidFill>
                <a:latin typeface="Microsoft YaHei"/>
                <a:ea typeface="Microsoft YaHei"/>
              </a:rPr>
              <a:t>小熊　</a:t>
            </a:r>
            <a:r>
              <a:rPr lang="en-US" sz="1125">
                <a:solidFill>
                  <a:srgbClr val="8FA3BD"/>
                </a:solidFill>
                <a:latin typeface="Microsoft YaHei"/>
                <a:ea typeface="Microsoft YaHei"/>
              </a:rPr>
              <a:t>|</a:t>
            </a:r>
            <a:r>
              <a:rPr lang="zh-CN" sz="1125">
                <a:solidFill>
                  <a:srgbClr val="8FA3BD"/>
                </a:solidFill>
                <a:latin typeface="Microsoft YaHei"/>
                <a:ea typeface="Microsoft YaHei"/>
              </a:rPr>
              <a:t>　</a:t>
            </a:r>
            <a:r>
              <a:rPr lang="en-US" sz="1125">
                <a:solidFill>
                  <a:srgbClr val="8FA3BD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125">
                <a:solidFill>
                  <a:srgbClr val="8FA3BD"/>
                </a:solidFill>
                <a:latin typeface="Microsoft YaHei"/>
                <a:ea typeface="Microsoft YaHei"/>
              </a:rPr>
              <a:t>年</a:t>
            </a:r>
            <a:r>
              <a:rPr lang="en-US" sz="1125">
                <a:solidFill>
                  <a:srgbClr val="8FA3BD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125">
                <a:solidFill>
                  <a:srgbClr val="8FA3BD"/>
                </a:solidFill>
                <a:latin typeface="Microsoft YaHei"/>
                <a:ea typeface="Microsoft YaHei"/>
              </a:rPr>
              <a:t>月</a:t>
            </a:r>
            <a:r>
              <a:rPr lang="en-US" sz="1125">
                <a:solidFill>
                  <a:srgbClr val="8FA3BD"/>
                </a:solidFill>
                <a:latin typeface="Microsoft YaHei"/>
                <a:ea typeface="Microsoft YaHei"/>
              </a:rPr>
              <a:t xml:space="preserve"> 27 </a:t>
            </a:r>
            <a:r>
              <a:rPr lang="zh-CN" sz="1125">
                <a:solidFill>
                  <a:srgbClr val="8FA3BD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9286875" y="5657850"/>
            <a:ext cx="2333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3BD"/>
                </a:solidFill>
                <a:latin typeface="Microsoft YaHei"/>
                <a:ea typeface="Microsoft YaHei"/>
              </a:rPr>
              <a:t>代码与手册：乌小河机器人</a:t>
            </a:r>
            <a:r>
              <a:rPr lang="en-US" sz="1125">
                <a:solidFill>
                  <a:srgbClr val="8FA3BD"/>
                </a:solidFill>
                <a:latin typeface="Microsoft YaHei"/>
                <a:ea typeface="Microsoft YaHei"/>
              </a:rPr>
              <a:t xml:space="preserve"> / 05-</a:t>
            </a:r>
            <a:r>
              <a:rPr lang="zh-CN" sz="1125">
                <a:solidFill>
                  <a:srgbClr val="8FA3BD"/>
                </a:solidFill>
                <a:latin typeface="Microsoft YaHei"/>
                <a:ea typeface="Microsoft YaHei"/>
              </a:rPr>
              <a:t>工程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2026-10-27T18:38:43Z</dcterms:created>
  <dcterms:modified xsi:type="dcterms:W3CDTF">2026-10-27T18:38:43Z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{"AIGC":{"Label":"1","ContentProducer":"00119111010856365494821B355","ProduceID":"01a17cdbb189737f9e48edff6f1d6b38","ReservedCode1":"","ContentPropagator":"00119111010856365494821B355","PropagateID":"01a17cdbb189737f9e48edff6f1d6b38","ReservedCode2":""}}</vt:lpwstr>
  </property>
</Properties>
</file>